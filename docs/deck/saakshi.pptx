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to 0:15] Open cold. NEET-UG 2026: held 3 May, cancelled 12 May for about 22.79 lakh candidates; the leaked guess paper had roughly a 45-hour head start. NEET goes CBT from 2027, about 22 lakh candidates are about to go through exactly the pipeline we hardened.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to 0:30] The problem is not just leaks, it is that we cannot contain or prove anything, so every incident escalates to "re-test everyone". 2024: only 813 of 1,563 took the re-test. The new law gives 2+3 months to investigate and try, that needs court-grade logs.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to 0:40] Our promise is deliberately honest: we never claim cheat-proof or zero failures. We claim recoverable, contained, provable, and the next five slides are measured proof of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to 0:55] Seat to relay to three independent data-centre cells to control. The relay at the centre is treated as hostile: it cannot read answers or forge a tick. The witness is built and cosigns the log; in the demo it runs on the same host as control, and independent custody is on the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 to 1:10] Act 1. The gate blocks by name, names the tool, and turns green once closed. Face presence runs on the device, no video, no recognition, and every flag goes to a human. Detection is by process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to 1:25] Act 2. Prediction first: SYNC_LAG raised 1.0 to 1.9 seconds before the cut across three runs, on our drill, not real WAN. Split custody: 2 of 3. The offline code is scoped to one centre and shift, and survives phone dictation.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 to 1:45] Act 3, the wow moment. A judge kills Data Centre 2 and deletes its database. The P1 card shows the blast radius; candidates keep answering; it rebuilds from the relays and closes with answers lost 0, 6,593 entries sent, verified and stored. Chaos runs: RTO 1.3 to 1.9 s, RPO 0. Scale caveat stated.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 to 2:00] Act 4. A rogue DBA runs an UPDATE. The audit locates it and /verify shows the candidate what the seat actually committed. Every one of 1,000 single-byte flips is located. Evidence pack is one click; we do not claim court admissibility.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to 2:20] Act 5. On the full 20k run, 19,811 live candidates, 1,981,100 rows, the engine re-tests 225, re-conducts 3 centres and spares 18,994. Rupee figure uses an illustrative 1,500 per candidate. Honest FPR 0% out of sample, on synthetic data. The headline equals the pinned golden.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 to 2:30] Fairness. First-time candidates have no history, so history can only corroborate an exam-based flag, tested against an adversarial registry. Look-alike groups are not flagged, and nothing is ever auto-penalised.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 to 2:40] We state our limits and our roadmap plainly because a trust system that oversells is worthless. Everything on this slide is written in our threat model and claims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numbers, all from docs/evidence. One Mac, loopback, synthetic G1 cohort at 20,000 candidates. Bytes per candidate-hour extrapolates a 60-second window and is not a real exam duty cycle. Seat CPU and memory cover the Node main process only. Chaos: 20 of 20 runs passed, 16,000 sent and stored, RTO medians 1.22 to 1.23 s for kill and wipe and 0.955 s for spare relay.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 to 2:50] Close. We are not asking NTA to buy our software; we are offering a protocol and a conformance kit to write into the RFP. We quote only numbers we have measured, so no cost per candidate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 to 3:00] Every one of the 12 focus areas maps to features, code and tests in traceability.md, seven built, five partly built with the remaining stage named. Thank you, happy to break anything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000" dirty="0">
                <a:solidFill>
                  <a:srgbClr val="E07A1F"/>
                </a:solidFill>
                <a:latin typeface="Cambria" pitchFamily="34" charset="0"/>
                <a:ea typeface="Cambria" pitchFamily="34" charset="-122"/>
                <a:cs typeface="Cambria" pitchFamily="34" charset="-120"/>
              </a:rPr>
              <a:t>साक्षी  Saakshi</a:t>
            </a:r>
            <a:endParaRPr lang="en-US" sz="2000" dirty="0"/>
          </a:p>
        </p:txBody>
      </p:sp>
      <p:sp>
        <p:nvSpPr>
          <p:cNvPr id="3" name="Text 1"/>
          <p:cNvSpPr txBox="1"/>
          <p:nvPr/>
        </p:nvSpPr>
        <p:spPr>
          <a:xfrm>
            <a:off x="457200" y="1097280"/>
            <a:ext cx="7863840" cy="128016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NEET-UG 2026 was cancelled nine days after 22.79 lakh candidates sat it.</a:t>
            </a:r>
            <a:endParaRPr lang="en-US" sz="3200" dirty="0"/>
          </a:p>
        </p:txBody>
      </p:sp>
      <p:sp>
        <p:nvSpPr>
          <p:cNvPr id="4" name="Shape 2"/>
          <p:cNvSpPr/>
          <p:nvPr/>
        </p:nvSpPr>
        <p:spPr>
          <a:xfrm>
            <a:off x="457200" y="2651760"/>
            <a:ext cx="2560320" cy="1234440"/>
          </a:xfrm>
          <a:prstGeom prst="roundRect">
            <a:avLst>
              <a:gd name="adj" fmla="val 5926"/>
            </a:avLst>
          </a:prstGeom>
          <a:solidFill>
            <a:srgbClr val="1F2F55"/>
          </a:solidFill>
          <a:ln/>
        </p:spPr>
      </p:sp>
      <p:sp>
        <p:nvSpPr>
          <p:cNvPr id="5" name="Text 3"/>
          <p:cNvSpPr txBox="1"/>
          <p:nvPr/>
        </p:nvSpPr>
        <p:spPr>
          <a:xfrm>
            <a:off x="594360" y="2761488"/>
            <a:ext cx="2286000" cy="640080"/>
          </a:xfrm>
          <a:prstGeom prst="rect">
            <a:avLst/>
          </a:prstGeom>
          <a:noFill/>
          <a:ln/>
        </p:spPr>
        <p:txBody>
          <a:bodyPr wrap="square" lIns="0" tIns="0" rIns="0" bIns="0" rtlCol="0" anchor="ctr"/>
          <a:lstStyle/>
          <a:p>
            <a:pPr indent="0" marL="0">
              <a:buNone/>
            </a:pPr>
            <a:r>
              <a:rPr lang="en-US" sz="2200" b="1" dirty="0">
                <a:solidFill>
                  <a:srgbClr val="E07A1F"/>
                </a:solidFill>
                <a:latin typeface="Cambria" pitchFamily="34" charset="0"/>
                <a:ea typeface="Cambria" pitchFamily="34" charset="-122"/>
                <a:cs typeface="Cambria" pitchFamily="34" charset="-120"/>
              </a:rPr>
              <a:t>3 May → 12 May</a:t>
            </a:r>
            <a:endParaRPr lang="en-US" sz="2200" dirty="0"/>
          </a:p>
        </p:txBody>
      </p:sp>
      <p:sp>
        <p:nvSpPr>
          <p:cNvPr id="6" name="Text 4"/>
          <p:cNvSpPr txBox="1"/>
          <p:nvPr/>
        </p:nvSpPr>
        <p:spPr>
          <a:xfrm>
            <a:off x="594360" y="3401568"/>
            <a:ext cx="2286000" cy="411480"/>
          </a:xfrm>
          <a:prstGeom prst="rect">
            <a:avLst/>
          </a:prstGeom>
          <a:noFill/>
          <a:ln/>
        </p:spPr>
        <p:txBody>
          <a:bodyPr wrap="square" lIns="0" tIns="0" rIns="0" bIns="0" rtlCol="0" anchor="t"/>
          <a:lstStyle/>
          <a:p>
            <a:pPr indent="0" marL="0">
              <a:buNone/>
            </a:pPr>
            <a:r>
              <a:rPr lang="en-US" sz="1100" dirty="0">
                <a:solidFill>
                  <a:srgbClr val="C9D2E3"/>
                </a:solidFill>
                <a:latin typeface="Calibri" pitchFamily="34" charset="0"/>
                <a:ea typeface="Calibri" pitchFamily="34" charset="-122"/>
                <a:cs typeface="Calibri" pitchFamily="34" charset="-120"/>
              </a:rPr>
              <a:t>held, then cancelled after a leak</a:t>
            </a:r>
            <a:endParaRPr lang="en-US" sz="1100" dirty="0"/>
          </a:p>
        </p:txBody>
      </p:sp>
      <p:sp>
        <p:nvSpPr>
          <p:cNvPr id="7" name="Shape 5"/>
          <p:cNvSpPr/>
          <p:nvPr/>
        </p:nvSpPr>
        <p:spPr>
          <a:xfrm>
            <a:off x="3291840" y="2651760"/>
            <a:ext cx="2560320" cy="1234440"/>
          </a:xfrm>
          <a:prstGeom prst="roundRect">
            <a:avLst>
              <a:gd name="adj" fmla="val 5926"/>
            </a:avLst>
          </a:prstGeom>
          <a:solidFill>
            <a:srgbClr val="1F2F55"/>
          </a:solidFill>
          <a:ln/>
        </p:spPr>
      </p:sp>
      <p:sp>
        <p:nvSpPr>
          <p:cNvPr id="8" name="Text 6"/>
          <p:cNvSpPr txBox="1"/>
          <p:nvPr/>
        </p:nvSpPr>
        <p:spPr>
          <a:xfrm>
            <a:off x="3429000" y="2761488"/>
            <a:ext cx="2286000" cy="640080"/>
          </a:xfrm>
          <a:prstGeom prst="rect">
            <a:avLst/>
          </a:prstGeom>
          <a:noFill/>
          <a:ln/>
        </p:spPr>
        <p:txBody>
          <a:bodyPr wrap="square" lIns="0" tIns="0" rIns="0" bIns="0" rtlCol="0" anchor="ctr"/>
          <a:lstStyle/>
          <a:p>
            <a:pPr indent="0" marL="0">
              <a:buNone/>
            </a:pPr>
            <a:r>
              <a:rPr lang="en-US" sz="2200" b="1" dirty="0">
                <a:solidFill>
                  <a:srgbClr val="E07A1F"/>
                </a:solidFill>
                <a:latin typeface="Cambria" pitchFamily="34" charset="0"/>
                <a:ea typeface="Cambria" pitchFamily="34" charset="-122"/>
                <a:cs typeface="Cambria" pitchFamily="34" charset="-120"/>
              </a:rPr>
              <a:t>~45 hours</a:t>
            </a:r>
            <a:endParaRPr lang="en-US" sz="2200" dirty="0"/>
          </a:p>
        </p:txBody>
      </p:sp>
      <p:sp>
        <p:nvSpPr>
          <p:cNvPr id="9" name="Text 7"/>
          <p:cNvSpPr txBox="1"/>
          <p:nvPr/>
        </p:nvSpPr>
        <p:spPr>
          <a:xfrm>
            <a:off x="3429000" y="3401568"/>
            <a:ext cx="2286000" cy="411480"/>
          </a:xfrm>
          <a:prstGeom prst="rect">
            <a:avLst/>
          </a:prstGeom>
          <a:noFill/>
          <a:ln/>
        </p:spPr>
        <p:txBody>
          <a:bodyPr wrap="square" lIns="0" tIns="0" rIns="0" bIns="0" rtlCol="0" anchor="t"/>
          <a:lstStyle/>
          <a:p>
            <a:pPr indent="0" marL="0">
              <a:buNone/>
            </a:pPr>
            <a:r>
              <a:rPr lang="en-US" sz="1100" dirty="0">
                <a:solidFill>
                  <a:srgbClr val="C9D2E3"/>
                </a:solidFill>
                <a:latin typeface="Calibri" pitchFamily="34" charset="0"/>
                <a:ea typeface="Calibri" pitchFamily="34" charset="-122"/>
                <a:cs typeface="Calibri" pitchFamily="34" charset="-120"/>
              </a:rPr>
              <a:t>head start the leaked "guess paper" had</a:t>
            </a:r>
            <a:endParaRPr lang="en-US" sz="1100" dirty="0"/>
          </a:p>
        </p:txBody>
      </p:sp>
      <p:sp>
        <p:nvSpPr>
          <p:cNvPr id="10" name="Shape 8"/>
          <p:cNvSpPr/>
          <p:nvPr/>
        </p:nvSpPr>
        <p:spPr>
          <a:xfrm>
            <a:off x="6126480" y="2651760"/>
            <a:ext cx="2560320" cy="1234440"/>
          </a:xfrm>
          <a:prstGeom prst="roundRect">
            <a:avLst>
              <a:gd name="adj" fmla="val 5926"/>
            </a:avLst>
          </a:prstGeom>
          <a:solidFill>
            <a:srgbClr val="1F2F55"/>
          </a:solidFill>
          <a:ln/>
        </p:spPr>
      </p:sp>
      <p:sp>
        <p:nvSpPr>
          <p:cNvPr id="11" name="Text 9"/>
          <p:cNvSpPr txBox="1"/>
          <p:nvPr/>
        </p:nvSpPr>
        <p:spPr>
          <a:xfrm>
            <a:off x="6263640" y="2761488"/>
            <a:ext cx="2286000" cy="640080"/>
          </a:xfrm>
          <a:prstGeom prst="rect">
            <a:avLst/>
          </a:prstGeom>
          <a:noFill/>
          <a:ln/>
        </p:spPr>
        <p:txBody>
          <a:bodyPr wrap="square" lIns="0" tIns="0" rIns="0" bIns="0" rtlCol="0" anchor="ctr"/>
          <a:lstStyle/>
          <a:p>
            <a:pPr indent="0" marL="0">
              <a:buNone/>
            </a:pPr>
            <a:r>
              <a:rPr lang="en-US" sz="2200" b="1" dirty="0">
                <a:solidFill>
                  <a:srgbClr val="E07A1F"/>
                </a:solidFill>
                <a:latin typeface="Cambria" pitchFamily="34" charset="0"/>
                <a:ea typeface="Cambria" pitchFamily="34" charset="-122"/>
                <a:cs typeface="Cambria" pitchFamily="34" charset="-120"/>
              </a:rPr>
              <a:t>CBT from 2027</a:t>
            </a:r>
            <a:endParaRPr lang="en-US" sz="2200" dirty="0"/>
          </a:p>
        </p:txBody>
      </p:sp>
      <p:sp>
        <p:nvSpPr>
          <p:cNvPr id="12" name="Text 10"/>
          <p:cNvSpPr txBox="1"/>
          <p:nvPr/>
        </p:nvSpPr>
        <p:spPr>
          <a:xfrm>
            <a:off x="6263640" y="3401568"/>
            <a:ext cx="2286000" cy="411480"/>
          </a:xfrm>
          <a:prstGeom prst="rect">
            <a:avLst/>
          </a:prstGeom>
          <a:noFill/>
          <a:ln/>
        </p:spPr>
        <p:txBody>
          <a:bodyPr wrap="square" lIns="0" tIns="0" rIns="0" bIns="0" rtlCol="0" anchor="t"/>
          <a:lstStyle/>
          <a:p>
            <a:pPr indent="0" marL="0">
              <a:buNone/>
            </a:pPr>
            <a:r>
              <a:rPr lang="en-US" sz="1100" dirty="0">
                <a:solidFill>
                  <a:srgbClr val="C9D2E3"/>
                </a:solidFill>
                <a:latin typeface="Calibri" pitchFamily="34" charset="0"/>
                <a:ea typeface="Calibri" pitchFamily="34" charset="-122"/>
                <a:cs typeface="Calibri" pitchFamily="34" charset="-120"/>
              </a:rPr>
              <a:t>NEET moves to computer-based testing</a:t>
            </a:r>
            <a:endParaRPr lang="en-US" sz="1100" dirty="0"/>
          </a:p>
        </p:txBody>
      </p:sp>
      <p:sp>
        <p:nvSpPr>
          <p:cNvPr id="13" name="Text 11"/>
          <p:cNvSpPr txBox="1"/>
          <p:nvPr/>
        </p:nvSpPr>
        <p:spPr>
          <a:xfrm>
            <a:off x="457200" y="4754880"/>
            <a:ext cx="8229600" cy="256032"/>
          </a:xfrm>
          <a:prstGeom prst="rect">
            <a:avLst/>
          </a:prstGeom>
          <a:noFill/>
          <a:ln/>
        </p:spPr>
        <p:txBody>
          <a:bodyPr wrap="square" lIns="0" tIns="0" rIns="0" bIns="0" rtlCol="0" anchor="ctr"/>
          <a:lstStyle/>
          <a:p>
            <a:pPr indent="0" marL="0">
              <a:buNone/>
            </a:pPr>
            <a:r>
              <a:rPr lang="en-US" sz="900" i="1" dirty="0">
                <a:solidFill>
                  <a:srgbClr val="9AA6BD"/>
                </a:solidFill>
                <a:latin typeface="Calibri" pitchFamily="34" charset="0"/>
                <a:ea typeface="Calibri" pitchFamily="34" charset="-122"/>
                <a:cs typeface="Calibri" pitchFamily="34" charset="-120"/>
              </a:rPr>
              <a:t>Sources: docs/research.md (Outlook, Gulf News, SCC Online, MedicalDialogues, Wikipedia).</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14213D"/>
                </a:solidFill>
                <a:latin typeface="Cambria" pitchFamily="34" charset="0"/>
                <a:ea typeface="Cambria" pitchFamily="34" charset="-122"/>
                <a:cs typeface="Cambria" pitchFamily="34" charset="-120"/>
              </a:rPr>
              <a:t>Every failure becomes a nationwide re-test</a:t>
            </a:r>
            <a:endParaRPr lang="en-US" sz="3000" dirty="0"/>
          </a:p>
        </p:txBody>
      </p:sp>
      <p:sp>
        <p:nvSpPr>
          <p:cNvPr id="3" name="Text 1"/>
          <p:cNvSpPr txBox="1"/>
          <p:nvPr/>
        </p:nvSpPr>
        <p:spPr>
          <a:xfrm>
            <a:off x="457200" y="1188720"/>
            <a:ext cx="5120640" cy="32918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4213D"/>
                </a:solidFill>
                <a:latin typeface="Calibri" pitchFamily="34" charset="0"/>
                <a:ea typeface="Calibri" pitchFamily="34" charset="-122"/>
                <a:cs typeface="Calibri" pitchFamily="34" charset="-120"/>
              </a:rPr>
              <a:t>NEET-UG 2024: 1,563 candidates got grace marks; they were scrapped, a re-test offered, and only 813 took it.</a:t>
            </a:r>
            <a:endParaRPr lang="en-US" sz="1400" dirty="0"/>
          </a:p>
          <a:p>
            <a:pPr marL="342900" indent="-342900">
              <a:spcAft>
                <a:spcPts val="800"/>
              </a:spcAft>
              <a:buSzPct val="100000"/>
              <a:buChar char="•"/>
            </a:pPr>
            <a:r>
              <a:rPr lang="en-US" sz="1400" dirty="0">
                <a:solidFill>
                  <a:srgbClr val="14213D"/>
                </a:solidFill>
                <a:latin typeface="Calibri" pitchFamily="34" charset="0"/>
                <a:ea typeface="Calibri" pitchFamily="34" charset="-122"/>
                <a:cs typeface="Calibri" pitchFamily="34" charset="-120"/>
              </a:rPr>
              <a:t>The Supreme Court called the 2024 leak localised (~155 beneficiaries), but had no fine-grained evidence to separate them.</a:t>
            </a:r>
            <a:endParaRPr lang="en-US" sz="1400" dirty="0"/>
          </a:p>
          <a:p>
            <a:pPr marL="342900" indent="-342900">
              <a:spcAft>
                <a:spcPts val="800"/>
              </a:spcAft>
              <a:buSzPct val="100000"/>
              <a:buChar char="•"/>
            </a:pPr>
            <a:r>
              <a:rPr lang="en-US" sz="1400" dirty="0">
                <a:solidFill>
                  <a:srgbClr val="14213D"/>
                </a:solidFill>
                <a:latin typeface="Calibri" pitchFamily="34" charset="0"/>
                <a:ea typeface="Calibri" pitchFamily="34" charset="-122"/>
                <a:cs typeface="Calibri" pitchFamily="34" charset="-120"/>
              </a:rPr>
              <a:t>Wrong paper sets sent to centres, papers moved by e-rickshaw, weak CCTV (recorded by the Court).</a:t>
            </a:r>
            <a:endParaRPr lang="en-US" sz="1400" dirty="0"/>
          </a:p>
          <a:p>
            <a:pPr marL="342900" indent="-342900">
              <a:spcAft>
                <a:spcPts val="800"/>
              </a:spcAft>
              <a:buSzPct val="100000"/>
              <a:buChar char="•"/>
            </a:pPr>
            <a:r>
              <a:rPr lang="en-US" sz="1400" dirty="0">
                <a:solidFill>
                  <a:srgbClr val="14213D"/>
                </a:solidFill>
                <a:latin typeface="Calibri" pitchFamily="34" charset="0"/>
                <a:ea typeface="Calibri" pitchFamily="34" charset="-122"/>
                <a:cs typeface="Calibri" pitchFamily="34" charset="-120"/>
              </a:rPr>
              <a:t>NEET needs ~22 lakh seats vs 2–2.5 lakh CBT seats per session: multi-shift, so fairness evidence is core.</a:t>
            </a:r>
            <a:endParaRPr lang="en-US" sz="1400" dirty="0"/>
          </a:p>
        </p:txBody>
      </p:sp>
      <p:sp>
        <p:nvSpPr>
          <p:cNvPr id="4" name="Shape 2"/>
          <p:cNvSpPr/>
          <p:nvPr/>
        </p:nvSpPr>
        <p:spPr>
          <a:xfrm>
            <a:off x="5943600" y="1188720"/>
            <a:ext cx="2743200" cy="1234440"/>
          </a:xfrm>
          <a:prstGeom prst="roundRect">
            <a:avLst>
              <a:gd name="adj" fmla="val 5926"/>
            </a:avLst>
          </a:prstGeom>
          <a:solidFill>
            <a:srgbClr val="EEF1F6"/>
          </a:solidFill>
          <a:ln/>
        </p:spPr>
      </p:sp>
      <p:sp>
        <p:nvSpPr>
          <p:cNvPr id="5" name="Text 3"/>
          <p:cNvSpPr txBox="1"/>
          <p:nvPr/>
        </p:nvSpPr>
        <p:spPr>
          <a:xfrm>
            <a:off x="6080760" y="1298448"/>
            <a:ext cx="2468880" cy="640080"/>
          </a:xfrm>
          <a:prstGeom prst="rect">
            <a:avLst/>
          </a:prstGeom>
          <a:noFill/>
          <a:ln/>
        </p:spPr>
        <p:txBody>
          <a:bodyPr wrap="square" lIns="0" tIns="0" rIns="0" bIns="0" rtlCol="0" anchor="ctr"/>
          <a:lstStyle/>
          <a:p>
            <a:pPr indent="0" marL="0">
              <a:buNone/>
            </a:pPr>
            <a:r>
              <a:rPr lang="en-US" sz="2200" b="1" dirty="0">
                <a:solidFill>
                  <a:srgbClr val="E07A1F"/>
                </a:solidFill>
                <a:latin typeface="Cambria" pitchFamily="34" charset="0"/>
                <a:ea typeface="Cambria" pitchFamily="34" charset="-122"/>
                <a:cs typeface="Cambria" pitchFamily="34" charset="-120"/>
              </a:rPr>
              <a:t>813 / 1,563</a:t>
            </a:r>
            <a:endParaRPr lang="en-US" sz="2200" dirty="0"/>
          </a:p>
        </p:txBody>
      </p:sp>
      <p:sp>
        <p:nvSpPr>
          <p:cNvPr id="6" name="Text 4"/>
          <p:cNvSpPr txBox="1"/>
          <p:nvPr/>
        </p:nvSpPr>
        <p:spPr>
          <a:xfrm>
            <a:off x="6080760" y="1938528"/>
            <a:ext cx="2468880" cy="411480"/>
          </a:xfrm>
          <a:prstGeom prst="rect">
            <a:avLst/>
          </a:prstGeom>
          <a:noFill/>
          <a:ln/>
        </p:spPr>
        <p:txBody>
          <a:bodyPr wrap="square" lIns="0" tIns="0" rIns="0" bIns="0" rtlCol="0" anchor="t"/>
          <a:lstStyle/>
          <a:p>
            <a:pPr indent="0" marL="0">
              <a:buNone/>
            </a:pPr>
            <a:r>
              <a:rPr lang="en-US" sz="1100" dirty="0">
                <a:solidFill>
                  <a:srgbClr val="5B6475"/>
                </a:solidFill>
                <a:latin typeface="Calibri" pitchFamily="34" charset="0"/>
                <a:ea typeface="Calibri" pitchFamily="34" charset="-122"/>
                <a:cs typeface="Calibri" pitchFamily="34" charset="-120"/>
              </a:rPr>
              <a:t>took the 2024 re-test they were offered</a:t>
            </a:r>
            <a:endParaRPr lang="en-US" sz="1100" dirty="0"/>
          </a:p>
        </p:txBody>
      </p:sp>
      <p:sp>
        <p:nvSpPr>
          <p:cNvPr id="7" name="Shape 5"/>
          <p:cNvSpPr/>
          <p:nvPr/>
        </p:nvSpPr>
        <p:spPr>
          <a:xfrm>
            <a:off x="5943600" y="2697480"/>
            <a:ext cx="2743200" cy="1234440"/>
          </a:xfrm>
          <a:prstGeom prst="roundRect">
            <a:avLst>
              <a:gd name="adj" fmla="val 5926"/>
            </a:avLst>
          </a:prstGeom>
          <a:solidFill>
            <a:srgbClr val="EEF1F6"/>
          </a:solidFill>
          <a:ln/>
        </p:spPr>
      </p:sp>
      <p:sp>
        <p:nvSpPr>
          <p:cNvPr id="8" name="Text 6"/>
          <p:cNvSpPr txBox="1"/>
          <p:nvPr/>
        </p:nvSpPr>
        <p:spPr>
          <a:xfrm>
            <a:off x="6080760" y="2807208"/>
            <a:ext cx="2468880" cy="640080"/>
          </a:xfrm>
          <a:prstGeom prst="rect">
            <a:avLst/>
          </a:prstGeom>
          <a:noFill/>
          <a:ln/>
        </p:spPr>
        <p:txBody>
          <a:bodyPr wrap="square" lIns="0" tIns="0" rIns="0" bIns="0" rtlCol="0" anchor="ctr"/>
          <a:lstStyle/>
          <a:p>
            <a:pPr indent="0" marL="0">
              <a:buNone/>
            </a:pPr>
            <a:r>
              <a:rPr lang="en-US" sz="3000" b="1" dirty="0">
                <a:solidFill>
                  <a:srgbClr val="E07A1F"/>
                </a:solidFill>
                <a:latin typeface="Cambria" pitchFamily="34" charset="0"/>
                <a:ea typeface="Cambria" pitchFamily="34" charset="-122"/>
                <a:cs typeface="Cambria" pitchFamily="34" charset="-120"/>
              </a:rPr>
              <a:t>5 months</a:t>
            </a:r>
            <a:endParaRPr lang="en-US" sz="3000" dirty="0"/>
          </a:p>
        </p:txBody>
      </p:sp>
      <p:sp>
        <p:nvSpPr>
          <p:cNvPr id="9" name="Text 7"/>
          <p:cNvSpPr txBox="1"/>
          <p:nvPr/>
        </p:nvSpPr>
        <p:spPr>
          <a:xfrm>
            <a:off x="6080760" y="3447288"/>
            <a:ext cx="2468880" cy="411480"/>
          </a:xfrm>
          <a:prstGeom prst="rect">
            <a:avLst/>
          </a:prstGeom>
          <a:noFill/>
          <a:ln/>
        </p:spPr>
        <p:txBody>
          <a:bodyPr wrap="square" lIns="0" tIns="0" rIns="0" bIns="0" rtlCol="0" anchor="t"/>
          <a:lstStyle/>
          <a:p>
            <a:pPr indent="0" marL="0">
              <a:buNone/>
            </a:pPr>
            <a:r>
              <a:rPr lang="en-US" sz="1100" dirty="0">
                <a:solidFill>
                  <a:srgbClr val="5B6475"/>
                </a:solidFill>
                <a:latin typeface="Calibri" pitchFamily="34" charset="0"/>
                <a:ea typeface="Calibri" pitchFamily="34" charset="-122"/>
                <a:cs typeface="Calibri" pitchFamily="34" charset="-120"/>
              </a:rPr>
              <a:t>to investigate + try under the 2026 Amendment Bill</a:t>
            </a:r>
            <a:endParaRPr lang="en-US" sz="1100" dirty="0"/>
          </a:p>
        </p:txBody>
      </p:sp>
      <p:sp>
        <p:nvSpPr>
          <p:cNvPr id="10" name="Text 8"/>
          <p:cNvSpPr txBox="1"/>
          <p:nvPr/>
        </p:nvSpPr>
        <p:spPr>
          <a:xfrm>
            <a:off x="457200" y="4754880"/>
            <a:ext cx="8229600" cy="256032"/>
          </a:xfrm>
          <a:prstGeom prst="rect">
            <a:avLst/>
          </a:prstGeom>
          <a:noFill/>
          <a:ln/>
        </p:spPr>
        <p:txBody>
          <a:bodyPr wrap="square" lIns="0" tIns="0" rIns="0" bIns="0" rtlCol="0" anchor="ctr"/>
          <a:lstStyle/>
          <a:p>
            <a:pPr indent="0" marL="0">
              <a:buNone/>
            </a:pPr>
            <a:r>
              <a:rPr lang="en-US" sz="900" i="1" dirty="0">
                <a:solidFill>
                  <a:srgbClr val="5B6475"/>
                </a:solidFill>
                <a:latin typeface="Calibri" pitchFamily="34" charset="0"/>
                <a:ea typeface="Calibri" pitchFamily="34" charset="-122"/>
                <a:cs typeface="Calibri" pitchFamily="34" charset="-120"/>
              </a:rPr>
              <a:t>Sources: docs/research.md (SCC Online, PW, Upstox, Vajiram).</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Not "zero failures". Every failure is:</a:t>
            </a:r>
            <a:endParaRPr lang="en-US" sz="3000" dirty="0"/>
          </a:p>
        </p:txBody>
      </p:sp>
      <p:sp>
        <p:nvSpPr>
          <p:cNvPr id="3" name="Shape 1"/>
          <p:cNvSpPr/>
          <p:nvPr/>
        </p:nvSpPr>
        <p:spPr>
          <a:xfrm>
            <a:off x="457200" y="1463040"/>
            <a:ext cx="548640" cy="548640"/>
          </a:xfrm>
          <a:prstGeom prst="ellipse">
            <a:avLst/>
          </a:prstGeom>
          <a:solidFill>
            <a:srgbClr val="E07A1F"/>
          </a:solidFill>
          <a:ln/>
        </p:spPr>
      </p:sp>
      <p:sp>
        <p:nvSpPr>
          <p:cNvPr id="4" name="Text 2"/>
          <p:cNvSpPr txBox="1"/>
          <p:nvPr/>
        </p:nvSpPr>
        <p:spPr>
          <a:xfrm>
            <a:off x="457200" y="14630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5" name="Text 3"/>
          <p:cNvSpPr txBox="1"/>
          <p:nvPr/>
        </p:nvSpPr>
        <p:spPr>
          <a:xfrm>
            <a:off x="457200" y="2194560"/>
            <a:ext cx="256032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Recoverable</a:t>
            </a:r>
            <a:endParaRPr lang="en-US" sz="2400" dirty="0"/>
          </a:p>
        </p:txBody>
      </p:sp>
      <p:sp>
        <p:nvSpPr>
          <p:cNvPr id="6" name="Text 4"/>
          <p:cNvSpPr txBox="1"/>
          <p:nvPr/>
        </p:nvSpPr>
        <p:spPr>
          <a:xfrm>
            <a:off x="457200" y="2743200"/>
            <a:ext cx="2560320" cy="1280160"/>
          </a:xfrm>
          <a:prstGeom prst="rect">
            <a:avLst/>
          </a:prstGeom>
          <a:noFill/>
          <a:ln/>
        </p:spPr>
        <p:txBody>
          <a:bodyPr wrap="square" lIns="0" tIns="0" rIns="0" bIns="0" rtlCol="0" anchor="t"/>
          <a:lstStyle/>
          <a:p>
            <a:pPr indent="0" marL="0">
              <a:buNone/>
            </a:pPr>
            <a:r>
              <a:rPr lang="en-US" sz="1400" dirty="0">
                <a:solidFill>
                  <a:srgbClr val="C9D2E3"/>
                </a:solidFill>
                <a:latin typeface="Calibri" pitchFamily="34" charset="0"/>
                <a:ea typeface="Calibri" pitchFamily="34" charset="-122"/>
                <a:cs typeface="Calibri" pitchFamily="34" charset="-120"/>
              </a:rPr>
              <a:t>No acknowledged answer is ever lost, seat, relay and data centre can each die.</a:t>
            </a:r>
            <a:endParaRPr lang="en-US" sz="1400" dirty="0"/>
          </a:p>
        </p:txBody>
      </p:sp>
      <p:sp>
        <p:nvSpPr>
          <p:cNvPr id="7" name="Shape 5"/>
          <p:cNvSpPr/>
          <p:nvPr/>
        </p:nvSpPr>
        <p:spPr>
          <a:xfrm>
            <a:off x="3291840" y="1463040"/>
            <a:ext cx="548640" cy="548640"/>
          </a:xfrm>
          <a:prstGeom prst="ellipse">
            <a:avLst/>
          </a:prstGeom>
          <a:solidFill>
            <a:srgbClr val="E07A1F"/>
          </a:solidFill>
          <a:ln/>
        </p:spPr>
      </p:sp>
      <p:sp>
        <p:nvSpPr>
          <p:cNvPr id="8" name="Text 6"/>
          <p:cNvSpPr txBox="1"/>
          <p:nvPr/>
        </p:nvSpPr>
        <p:spPr>
          <a:xfrm>
            <a:off x="3291840" y="14630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9" name="Text 7"/>
          <p:cNvSpPr txBox="1"/>
          <p:nvPr/>
        </p:nvSpPr>
        <p:spPr>
          <a:xfrm>
            <a:off x="3291840" y="2194560"/>
            <a:ext cx="256032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Contained</a:t>
            </a:r>
            <a:endParaRPr lang="en-US" sz="2400" dirty="0"/>
          </a:p>
        </p:txBody>
      </p:sp>
      <p:sp>
        <p:nvSpPr>
          <p:cNvPr id="10" name="Text 8"/>
          <p:cNvSpPr txBox="1"/>
          <p:nvPr/>
        </p:nvSpPr>
        <p:spPr>
          <a:xfrm>
            <a:off x="3291840" y="2743200"/>
            <a:ext cx="2560320" cy="1280160"/>
          </a:xfrm>
          <a:prstGeom prst="rect">
            <a:avLst/>
          </a:prstGeom>
          <a:noFill/>
          <a:ln/>
        </p:spPr>
        <p:txBody>
          <a:bodyPr wrap="square" lIns="0" tIns="0" rIns="0" bIns="0" rtlCol="0" anchor="t"/>
          <a:lstStyle/>
          <a:p>
            <a:pPr indent="0" marL="0">
              <a:buNone/>
            </a:pPr>
            <a:r>
              <a:rPr lang="en-US" sz="1400" dirty="0">
                <a:solidFill>
                  <a:srgbClr val="C9D2E3"/>
                </a:solidFill>
                <a:latin typeface="Calibri" pitchFamily="34" charset="0"/>
                <a:ea typeface="Calibri" pitchFamily="34" charset="-122"/>
                <a:cs typeface="Calibri" pitchFamily="34" charset="-120"/>
              </a:rPr>
              <a:t>Blast radius is shown live; only the harmed candidates are re-tested.</a:t>
            </a:r>
            <a:endParaRPr lang="en-US" sz="1400" dirty="0"/>
          </a:p>
        </p:txBody>
      </p:sp>
      <p:sp>
        <p:nvSpPr>
          <p:cNvPr id="11" name="Shape 9"/>
          <p:cNvSpPr/>
          <p:nvPr/>
        </p:nvSpPr>
        <p:spPr>
          <a:xfrm>
            <a:off x="6126480" y="1463040"/>
            <a:ext cx="548640" cy="548640"/>
          </a:xfrm>
          <a:prstGeom prst="ellipse">
            <a:avLst/>
          </a:prstGeom>
          <a:solidFill>
            <a:srgbClr val="E07A1F"/>
          </a:solidFill>
          <a:ln/>
        </p:spPr>
      </p:sp>
      <p:sp>
        <p:nvSpPr>
          <p:cNvPr id="12" name="Text 10"/>
          <p:cNvSpPr txBox="1"/>
          <p:nvPr/>
        </p:nvSpPr>
        <p:spPr>
          <a:xfrm>
            <a:off x="6126480" y="14630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3" name="Text 11"/>
          <p:cNvSpPr txBox="1"/>
          <p:nvPr/>
        </p:nvSpPr>
        <p:spPr>
          <a:xfrm>
            <a:off x="6126480" y="2194560"/>
            <a:ext cx="256032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Provable</a:t>
            </a:r>
            <a:endParaRPr lang="en-US" sz="2400" dirty="0"/>
          </a:p>
        </p:txBody>
      </p:sp>
      <p:sp>
        <p:nvSpPr>
          <p:cNvPr id="14" name="Text 12"/>
          <p:cNvSpPr txBox="1"/>
          <p:nvPr/>
        </p:nvSpPr>
        <p:spPr>
          <a:xfrm>
            <a:off x="6126480" y="2743200"/>
            <a:ext cx="2560320" cy="1280160"/>
          </a:xfrm>
          <a:prstGeom prst="rect">
            <a:avLst/>
          </a:prstGeom>
          <a:noFill/>
          <a:ln/>
        </p:spPr>
        <p:txBody>
          <a:bodyPr wrap="square" lIns="0" tIns="0" rIns="0" bIns="0" rtlCol="0" anchor="t"/>
          <a:lstStyle/>
          <a:p>
            <a:pPr indent="0" marL="0">
              <a:buNone/>
            </a:pPr>
            <a:r>
              <a:rPr lang="en-US" sz="1400" dirty="0">
                <a:solidFill>
                  <a:srgbClr val="C9D2E3"/>
                </a:solidFill>
                <a:latin typeface="Calibri" pitchFamily="34" charset="0"/>
                <a:ea typeface="Calibri" pitchFamily="34" charset="-122"/>
                <a:cs typeface="Calibri" pitchFamily="34" charset="-120"/>
              </a:rPr>
              <a:t>Tamper-evident records every candidate can verify offline.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14213D"/>
                </a:solidFill>
                <a:latin typeface="Cambria" pitchFamily="34" charset="0"/>
                <a:ea typeface="Cambria" pitchFamily="34" charset="-122"/>
                <a:cs typeface="Cambria" pitchFamily="34" charset="-120"/>
              </a:rPr>
              <a:t>Five parts, each distrusting the next</a:t>
            </a:r>
            <a:endParaRPr lang="en-US" sz="3000" dirty="0"/>
          </a:p>
        </p:txBody>
      </p:sp>
      <p:sp>
        <p:nvSpPr>
          <p:cNvPr id="3" name="Shape 1"/>
          <p:cNvSpPr/>
          <p:nvPr/>
        </p:nvSpPr>
        <p:spPr>
          <a:xfrm>
            <a:off x="457200" y="1371600"/>
            <a:ext cx="1783080" cy="1463040"/>
          </a:xfrm>
          <a:prstGeom prst="roundRect">
            <a:avLst>
              <a:gd name="adj" fmla="val 5000"/>
            </a:avLst>
          </a:prstGeom>
          <a:solidFill>
            <a:srgbClr val="EEF1F6"/>
          </a:solidFill>
          <a:ln/>
        </p:spPr>
      </p:sp>
      <p:sp>
        <p:nvSpPr>
          <p:cNvPr id="4" name="Text 2"/>
          <p:cNvSpPr txBox="1"/>
          <p:nvPr/>
        </p:nvSpPr>
        <p:spPr>
          <a:xfrm>
            <a:off x="548640" y="1463040"/>
            <a:ext cx="1600200" cy="411480"/>
          </a:xfrm>
          <a:prstGeom prst="rect">
            <a:avLst/>
          </a:prstGeom>
          <a:noFill/>
          <a:ln/>
        </p:spPr>
        <p:txBody>
          <a:bodyPr wrap="square" lIns="0" tIns="0" rIns="0" bIns="0" rtlCol="0" anchor="ctr"/>
          <a:lstStyle/>
          <a:p>
            <a:pPr algn="ctr" indent="0" marL="0">
              <a:buNone/>
            </a:pPr>
            <a:r>
              <a:rPr lang="en-US" sz="1700" b="1" dirty="0">
                <a:solidFill>
                  <a:srgbClr val="14213D"/>
                </a:solidFill>
                <a:latin typeface="Cambria" pitchFamily="34" charset="0"/>
                <a:ea typeface="Cambria" pitchFamily="34" charset="-122"/>
                <a:cs typeface="Cambria" pitchFamily="34" charset="-120"/>
              </a:rPr>
              <a:t>Seat</a:t>
            </a:r>
            <a:endParaRPr lang="en-US" sz="1700" dirty="0"/>
          </a:p>
        </p:txBody>
      </p:sp>
      <p:sp>
        <p:nvSpPr>
          <p:cNvPr id="5" name="Text 3"/>
          <p:cNvSpPr txBox="1"/>
          <p:nvPr/>
        </p:nvSpPr>
        <p:spPr>
          <a:xfrm>
            <a:off x="548640" y="1920240"/>
            <a:ext cx="1600200" cy="822960"/>
          </a:xfrm>
          <a:prstGeom prst="rect">
            <a:avLst/>
          </a:prstGeom>
          <a:noFill/>
          <a:ln/>
        </p:spPr>
        <p:txBody>
          <a:bodyPr wrap="square" lIns="0" tIns="0" rIns="0" bIns="0" rtlCol="0" anchor="ctr"/>
          <a:lstStyle/>
          <a:p>
            <a:pPr algn="ctr" indent="0" marL="0">
              <a:buNone/>
            </a:pPr>
            <a:r>
              <a:rPr lang="en-US" sz="1200" dirty="0">
                <a:solidFill>
                  <a:srgbClr val="5B6475"/>
                </a:solidFill>
                <a:latin typeface="Calibri" pitchFamily="34" charset="0"/>
                <a:ea typeface="Calibri" pitchFamily="34" charset="-122"/>
                <a:cs typeface="Calibri" pitchFamily="34" charset="-120"/>
              </a:rPr>
              <a:t>Signs every answer;</a:t>
            </a:r>
            <a:endParaRPr lang="en-US" sz="1200" dirty="0"/>
          </a:p>
          <a:p>
            <a:pPr algn="ctr" indent="0" marL="0">
              <a:buNone/>
            </a:pPr>
            <a:r>
              <a:rPr lang="en-US" sz="1200" dirty="0">
                <a:solidFill>
                  <a:srgbClr val="5B6475"/>
                </a:solidFill>
                <a:latin typeface="Calibri" pitchFamily="34" charset="0"/>
                <a:ea typeface="Calibri" pitchFamily="34" charset="-122"/>
                <a:cs typeface="Calibri" pitchFamily="34" charset="-120"/>
              </a:rPr>
              <a:t>keeps working offline</a:t>
            </a:r>
            <a:endParaRPr lang="en-US" sz="1200" dirty="0"/>
          </a:p>
        </p:txBody>
      </p:sp>
      <p:sp>
        <p:nvSpPr>
          <p:cNvPr id="6" name="Shape 4"/>
          <p:cNvSpPr/>
          <p:nvPr/>
        </p:nvSpPr>
        <p:spPr>
          <a:xfrm>
            <a:off x="2267712" y="1965960"/>
            <a:ext cx="274320" cy="274320"/>
          </a:xfrm>
          <a:prstGeom prst="rightArrow">
            <a:avLst/>
          </a:prstGeom>
          <a:solidFill>
            <a:srgbClr val="E07A1F"/>
          </a:solidFill>
          <a:ln/>
        </p:spPr>
      </p:sp>
      <p:sp>
        <p:nvSpPr>
          <p:cNvPr id="7" name="Shape 5"/>
          <p:cNvSpPr/>
          <p:nvPr/>
        </p:nvSpPr>
        <p:spPr>
          <a:xfrm>
            <a:off x="2560320" y="1371600"/>
            <a:ext cx="1783080" cy="1463040"/>
          </a:xfrm>
          <a:prstGeom prst="roundRect">
            <a:avLst>
              <a:gd name="adj" fmla="val 5000"/>
            </a:avLst>
          </a:prstGeom>
          <a:solidFill>
            <a:srgbClr val="FCEBDD"/>
          </a:solidFill>
          <a:ln/>
        </p:spPr>
      </p:sp>
      <p:sp>
        <p:nvSpPr>
          <p:cNvPr id="8" name="Text 6"/>
          <p:cNvSpPr txBox="1"/>
          <p:nvPr/>
        </p:nvSpPr>
        <p:spPr>
          <a:xfrm>
            <a:off x="2651760" y="1463040"/>
            <a:ext cx="1600200" cy="411480"/>
          </a:xfrm>
          <a:prstGeom prst="rect">
            <a:avLst/>
          </a:prstGeom>
          <a:noFill/>
          <a:ln/>
        </p:spPr>
        <p:txBody>
          <a:bodyPr wrap="square" lIns="0" tIns="0" rIns="0" bIns="0" rtlCol="0" anchor="ctr"/>
          <a:lstStyle/>
          <a:p>
            <a:pPr algn="ctr" indent="0" marL="0">
              <a:buNone/>
            </a:pPr>
            <a:r>
              <a:rPr lang="en-US" sz="1700" b="1" dirty="0">
                <a:solidFill>
                  <a:srgbClr val="14213D"/>
                </a:solidFill>
                <a:latin typeface="Cambria" pitchFamily="34" charset="0"/>
                <a:ea typeface="Cambria" pitchFamily="34" charset="-122"/>
                <a:cs typeface="Cambria" pitchFamily="34" charset="-120"/>
              </a:rPr>
              <a:t>Centre relay</a:t>
            </a:r>
            <a:endParaRPr lang="en-US" sz="1700" dirty="0"/>
          </a:p>
        </p:txBody>
      </p:sp>
      <p:sp>
        <p:nvSpPr>
          <p:cNvPr id="9" name="Text 7"/>
          <p:cNvSpPr txBox="1"/>
          <p:nvPr/>
        </p:nvSpPr>
        <p:spPr>
          <a:xfrm>
            <a:off x="2651760" y="1920240"/>
            <a:ext cx="1600200" cy="822960"/>
          </a:xfrm>
          <a:prstGeom prst="rect">
            <a:avLst/>
          </a:prstGeom>
          <a:noFill/>
          <a:ln/>
        </p:spPr>
        <p:txBody>
          <a:bodyPr wrap="square" lIns="0" tIns="0" rIns="0" bIns="0" rtlCol="0" anchor="ctr"/>
          <a:lstStyle/>
          <a:p>
            <a:pPr algn="ctr" indent="0" marL="0">
              <a:buNone/>
            </a:pPr>
            <a:r>
              <a:rPr lang="en-US" sz="1200" dirty="0">
                <a:solidFill>
                  <a:srgbClr val="5B6475"/>
                </a:solidFill>
                <a:latin typeface="Calibri" pitchFamily="34" charset="0"/>
                <a:ea typeface="Calibri" pitchFamily="34" charset="-122"/>
                <a:cs typeface="Calibri" pitchFamily="34" charset="-120"/>
              </a:rPr>
              <a:t>Untrusted: stores and</a:t>
            </a:r>
            <a:endParaRPr lang="en-US" sz="1200" dirty="0"/>
          </a:p>
          <a:p>
            <a:pPr algn="ctr" indent="0" marL="0">
              <a:buNone/>
            </a:pPr>
            <a:r>
              <a:rPr lang="en-US" sz="1200" dirty="0">
                <a:solidFill>
                  <a:srgbClr val="5B6475"/>
                </a:solidFill>
                <a:latin typeface="Calibri" pitchFamily="34" charset="0"/>
                <a:ea typeface="Calibri" pitchFamily="34" charset="-122"/>
                <a:cs typeface="Calibri" pitchFamily="34" charset="-120"/>
              </a:rPr>
              <a:t>forwards, cannot read</a:t>
            </a:r>
            <a:endParaRPr lang="en-US" sz="1200" dirty="0"/>
          </a:p>
        </p:txBody>
      </p:sp>
      <p:sp>
        <p:nvSpPr>
          <p:cNvPr id="10" name="Shape 8"/>
          <p:cNvSpPr/>
          <p:nvPr/>
        </p:nvSpPr>
        <p:spPr>
          <a:xfrm>
            <a:off x="4370832" y="1965960"/>
            <a:ext cx="274320" cy="274320"/>
          </a:xfrm>
          <a:prstGeom prst="rightArrow">
            <a:avLst/>
          </a:prstGeom>
          <a:solidFill>
            <a:srgbClr val="E07A1F"/>
          </a:solidFill>
          <a:ln/>
        </p:spPr>
      </p:sp>
      <p:sp>
        <p:nvSpPr>
          <p:cNvPr id="11" name="Shape 9"/>
          <p:cNvSpPr/>
          <p:nvPr/>
        </p:nvSpPr>
        <p:spPr>
          <a:xfrm>
            <a:off x="4663440" y="1371600"/>
            <a:ext cx="1783080" cy="1463040"/>
          </a:xfrm>
          <a:prstGeom prst="roundRect">
            <a:avLst>
              <a:gd name="adj" fmla="val 5000"/>
            </a:avLst>
          </a:prstGeom>
          <a:solidFill>
            <a:srgbClr val="EEF1F6"/>
          </a:solidFill>
          <a:ln/>
        </p:spPr>
      </p:sp>
      <p:sp>
        <p:nvSpPr>
          <p:cNvPr id="12" name="Text 10"/>
          <p:cNvSpPr txBox="1"/>
          <p:nvPr/>
        </p:nvSpPr>
        <p:spPr>
          <a:xfrm>
            <a:off x="4754880" y="1463040"/>
            <a:ext cx="1600200" cy="411480"/>
          </a:xfrm>
          <a:prstGeom prst="rect">
            <a:avLst/>
          </a:prstGeom>
          <a:noFill/>
          <a:ln/>
        </p:spPr>
        <p:txBody>
          <a:bodyPr wrap="square" lIns="0" tIns="0" rIns="0" bIns="0" rtlCol="0" anchor="ctr"/>
          <a:lstStyle/>
          <a:p>
            <a:pPr algn="ctr" indent="0" marL="0">
              <a:buNone/>
            </a:pPr>
            <a:r>
              <a:rPr lang="en-US" sz="1700" b="1" dirty="0">
                <a:solidFill>
                  <a:srgbClr val="14213D"/>
                </a:solidFill>
                <a:latin typeface="Cambria" pitchFamily="34" charset="0"/>
                <a:ea typeface="Cambria" pitchFamily="34" charset="-122"/>
                <a:cs typeface="Cambria" pitchFamily="34" charset="-120"/>
              </a:rPr>
              <a:t>Cells ×3</a:t>
            </a:r>
            <a:endParaRPr lang="en-US" sz="1700" dirty="0"/>
          </a:p>
        </p:txBody>
      </p:sp>
      <p:sp>
        <p:nvSpPr>
          <p:cNvPr id="13" name="Text 11"/>
          <p:cNvSpPr txBox="1"/>
          <p:nvPr/>
        </p:nvSpPr>
        <p:spPr>
          <a:xfrm>
            <a:off x="4754880" y="1920240"/>
            <a:ext cx="1600200" cy="822960"/>
          </a:xfrm>
          <a:prstGeom prst="rect">
            <a:avLst/>
          </a:prstGeom>
          <a:noFill/>
          <a:ln/>
        </p:spPr>
        <p:txBody>
          <a:bodyPr wrap="square" lIns="0" tIns="0" rIns="0" bIns="0" rtlCol="0" anchor="ctr"/>
          <a:lstStyle/>
          <a:p>
            <a:pPr algn="ctr" indent="0" marL="0">
              <a:buNone/>
            </a:pPr>
            <a:r>
              <a:rPr lang="en-US" sz="1200" dirty="0">
                <a:solidFill>
                  <a:srgbClr val="5B6475"/>
                </a:solidFill>
                <a:latin typeface="Calibri" pitchFamily="34" charset="0"/>
                <a:ea typeface="Calibri" pitchFamily="34" charset="-122"/>
                <a:cs typeface="Calibri" pitchFamily="34" charset="-120"/>
              </a:rPr>
              <a:t>Verify, commit,</a:t>
            </a:r>
            <a:endParaRPr lang="en-US" sz="1200" dirty="0"/>
          </a:p>
          <a:p>
            <a:pPr algn="ctr" indent="0" marL="0">
              <a:buNone/>
            </a:pPr>
            <a:r>
              <a:rPr lang="en-US" sz="1200" dirty="0">
                <a:solidFill>
                  <a:srgbClr val="5B6475"/>
                </a:solidFill>
                <a:latin typeface="Calibri" pitchFamily="34" charset="0"/>
                <a:ea typeface="Calibri" pitchFamily="34" charset="-122"/>
                <a:cs typeface="Calibri" pitchFamily="34" charset="-120"/>
              </a:rPr>
              <a:t>countersign</a:t>
            </a:r>
            <a:endParaRPr lang="en-US" sz="1200" dirty="0"/>
          </a:p>
        </p:txBody>
      </p:sp>
      <p:sp>
        <p:nvSpPr>
          <p:cNvPr id="14" name="Shape 12"/>
          <p:cNvSpPr/>
          <p:nvPr/>
        </p:nvSpPr>
        <p:spPr>
          <a:xfrm>
            <a:off x="6473952" y="1965960"/>
            <a:ext cx="274320" cy="274320"/>
          </a:xfrm>
          <a:prstGeom prst="rightArrow">
            <a:avLst/>
          </a:prstGeom>
          <a:solidFill>
            <a:srgbClr val="E07A1F"/>
          </a:solidFill>
          <a:ln/>
        </p:spPr>
      </p:sp>
      <p:sp>
        <p:nvSpPr>
          <p:cNvPr id="15" name="Shape 13"/>
          <p:cNvSpPr/>
          <p:nvPr/>
        </p:nvSpPr>
        <p:spPr>
          <a:xfrm>
            <a:off x="6766560" y="1371600"/>
            <a:ext cx="1783080" cy="1463040"/>
          </a:xfrm>
          <a:prstGeom prst="roundRect">
            <a:avLst>
              <a:gd name="adj" fmla="val 5000"/>
            </a:avLst>
          </a:prstGeom>
          <a:solidFill>
            <a:srgbClr val="EEF1F6"/>
          </a:solidFill>
          <a:ln/>
        </p:spPr>
      </p:sp>
      <p:sp>
        <p:nvSpPr>
          <p:cNvPr id="16" name="Text 14"/>
          <p:cNvSpPr txBox="1"/>
          <p:nvPr/>
        </p:nvSpPr>
        <p:spPr>
          <a:xfrm>
            <a:off x="6858000" y="1463040"/>
            <a:ext cx="1600200" cy="411480"/>
          </a:xfrm>
          <a:prstGeom prst="rect">
            <a:avLst/>
          </a:prstGeom>
          <a:noFill/>
          <a:ln/>
        </p:spPr>
        <p:txBody>
          <a:bodyPr wrap="square" lIns="0" tIns="0" rIns="0" bIns="0" rtlCol="0" anchor="ctr"/>
          <a:lstStyle/>
          <a:p>
            <a:pPr algn="ctr" indent="0" marL="0">
              <a:buNone/>
            </a:pPr>
            <a:r>
              <a:rPr lang="en-US" sz="1700" b="1" dirty="0">
                <a:solidFill>
                  <a:srgbClr val="14213D"/>
                </a:solidFill>
                <a:latin typeface="Cambria" pitchFamily="34" charset="0"/>
                <a:ea typeface="Cambria" pitchFamily="34" charset="-122"/>
                <a:cs typeface="Cambria" pitchFamily="34" charset="-120"/>
              </a:rPr>
              <a:t>Control</a:t>
            </a:r>
            <a:endParaRPr lang="en-US" sz="1700" dirty="0"/>
          </a:p>
        </p:txBody>
      </p:sp>
      <p:sp>
        <p:nvSpPr>
          <p:cNvPr id="17" name="Text 15"/>
          <p:cNvSpPr txBox="1"/>
          <p:nvPr/>
        </p:nvSpPr>
        <p:spPr>
          <a:xfrm>
            <a:off x="6858000" y="1920240"/>
            <a:ext cx="1600200" cy="822960"/>
          </a:xfrm>
          <a:prstGeom prst="rect">
            <a:avLst/>
          </a:prstGeom>
          <a:noFill/>
          <a:ln/>
        </p:spPr>
        <p:txBody>
          <a:bodyPr wrap="square" lIns="0" tIns="0" rIns="0" bIns="0" rtlCol="0" anchor="ctr"/>
          <a:lstStyle/>
          <a:p>
            <a:pPr algn="ctr" indent="0" marL="0">
              <a:buNone/>
            </a:pPr>
            <a:r>
              <a:rPr lang="en-US" sz="1200" dirty="0">
                <a:solidFill>
                  <a:srgbClr val="5B6475"/>
                </a:solidFill>
                <a:latin typeface="Calibri" pitchFamily="34" charset="0"/>
                <a:ea typeface="Calibri" pitchFamily="34" charset="-122"/>
                <a:cs typeface="Calibri" pitchFamily="34" charset="-120"/>
              </a:rPr>
              <a:t>Custody, incidents,</a:t>
            </a:r>
            <a:endParaRPr lang="en-US" sz="1200" dirty="0"/>
          </a:p>
          <a:p>
            <a:pPr algn="ctr" indent="0" marL="0">
              <a:buNone/>
            </a:pPr>
            <a:r>
              <a:rPr lang="en-US" sz="1200" dirty="0">
                <a:solidFill>
                  <a:srgbClr val="5B6475"/>
                </a:solidFill>
                <a:latin typeface="Calibri" pitchFamily="34" charset="0"/>
                <a:ea typeface="Calibri" pitchFamily="34" charset="-122"/>
                <a:cs typeface="Calibri" pitchFamily="34" charset="-120"/>
              </a:rPr>
              <a:t>Merkle log, analytics</a:t>
            </a:r>
            <a:endParaRPr lang="en-US" sz="1200" dirty="0"/>
          </a:p>
        </p:txBody>
      </p:sp>
      <p:sp>
        <p:nvSpPr>
          <p:cNvPr id="18" name="Shape 16"/>
          <p:cNvSpPr/>
          <p:nvPr/>
        </p:nvSpPr>
        <p:spPr>
          <a:xfrm>
            <a:off x="6766560" y="3246120"/>
            <a:ext cx="1783080" cy="1005840"/>
          </a:xfrm>
          <a:prstGeom prst="roundRect">
            <a:avLst>
              <a:gd name="adj" fmla="val 7273"/>
            </a:avLst>
          </a:prstGeom>
          <a:solidFill>
            <a:srgbClr val="FFFFFF"/>
          </a:solidFill>
          <a:ln w="12700">
            <a:solidFill>
              <a:srgbClr val="5B6475"/>
            </a:solidFill>
            <a:prstDash val="dash"/>
          </a:ln>
        </p:spPr>
      </p:sp>
      <p:sp>
        <p:nvSpPr>
          <p:cNvPr id="19" name="Text 17"/>
          <p:cNvSpPr txBox="1"/>
          <p:nvPr/>
        </p:nvSpPr>
        <p:spPr>
          <a:xfrm>
            <a:off x="6858000" y="3291840"/>
            <a:ext cx="1600200" cy="914400"/>
          </a:xfrm>
          <a:prstGeom prst="rect">
            <a:avLst/>
          </a:prstGeom>
          <a:noFill/>
          <a:ln/>
        </p:spPr>
        <p:txBody>
          <a:bodyPr wrap="square" lIns="0" tIns="0" rIns="0" bIns="0" rtlCol="0" anchor="ctr"/>
          <a:lstStyle/>
          <a:p>
            <a:pPr algn="ctr" indent="0" marL="0">
              <a:buNone/>
            </a:pPr>
            <a:r>
              <a:rPr lang="en-US" sz="1200" b="1" dirty="0">
                <a:solidFill>
                  <a:srgbClr val="5B6475"/>
                </a:solidFill>
                <a:latin typeface="Calibri" pitchFamily="34" charset="0"/>
                <a:ea typeface="Calibri" pitchFamily="34" charset="-122"/>
                <a:cs typeface="Calibri" pitchFamily="34" charset="-120"/>
              </a:rPr>
              <a:t>Witness</a:t>
            </a:r>
            <a:endParaRPr lang="en-US" sz="1200" dirty="0"/>
          </a:p>
          <a:p>
            <a:pPr algn="ctr" indent="0" marL="0">
              <a:buNone/>
            </a:pPr>
            <a:r>
              <a:rPr lang="en-US" sz="1200" dirty="0">
                <a:solidFill>
                  <a:srgbClr val="5B6475"/>
                </a:solidFill>
                <a:latin typeface="Calibri" pitchFamily="34" charset="0"/>
                <a:ea typeface="Calibri" pitchFamily="34" charset="-122"/>
                <a:cs typeface="Calibri" pitchFamily="34" charset="-120"/>
              </a:rPr>
              <a:t>co-signs the log (built; demo runs it beside control)</a:t>
            </a:r>
            <a:endParaRPr lang="en-US" sz="1200" dirty="0"/>
          </a:p>
        </p:txBody>
      </p:sp>
      <p:sp>
        <p:nvSpPr>
          <p:cNvPr id="20" name="Text 18"/>
          <p:cNvSpPr txBox="1"/>
          <p:nvPr/>
        </p:nvSpPr>
        <p:spPr>
          <a:xfrm>
            <a:off x="457200" y="3246120"/>
            <a:ext cx="6035040" cy="11887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4213D"/>
                </a:solidFill>
                <a:latin typeface="Calibri" pitchFamily="34" charset="0"/>
                <a:ea typeface="Calibri" pitchFamily="34" charset="-122"/>
                <a:cs typeface="Calibri" pitchFamily="34" charset="-120"/>
              </a:rPr>
              <a:t>Answers are WhatsApp-style ticks: ✓ relay has it, ✓✓ data centre has it, blue = countersigned.</a:t>
            </a:r>
            <a:endParaRPr lang="en-US" sz="1400" dirty="0"/>
          </a:p>
          <a:p>
            <a:pPr marL="342900" indent="-342900">
              <a:spcAft>
                <a:spcPts val="800"/>
              </a:spcAft>
              <a:buSzPct val="100000"/>
              <a:buChar char="•"/>
            </a:pPr>
            <a:r>
              <a:rPr lang="en-US" sz="1400" dirty="0">
                <a:solidFill>
                  <a:srgbClr val="14213D"/>
                </a:solidFill>
                <a:latin typeface="Calibri" pitchFamily="34" charset="0"/>
                <a:ea typeface="Calibri" pitchFamily="34" charset="-122"/>
                <a:cs typeface="Calibri" pitchFamily="34" charset="-120"/>
              </a:rPr>
              <a:t>Paper keys are a two-key locker: any 2 of 3 custodians (NTA, NIC, observer).</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0" y="109728"/>
            <a:ext cx="2011680" cy="274320"/>
          </a:xfrm>
          <a:prstGeom prst="rect">
            <a:avLst/>
          </a:prstGeom>
          <a:noFill/>
          <a:ln/>
        </p:spPr>
        <p:txBody>
          <a:bodyPr wrap="square" lIns="0" tIns="0" rIns="0" bIns="0" rtlCol="0" anchor="ctr"/>
          <a:lstStyle/>
          <a:p>
            <a:pPr algn="r" indent="0" marL="0">
              <a:buNone/>
            </a:pPr>
            <a:r>
              <a:rPr lang="en-US" sz="1000" b="1" dirty="0">
                <a:solidFill>
                  <a:srgbClr val="E07A1F"/>
                </a:solidFill>
                <a:latin typeface="Calibri" pitchFamily="34" charset="0"/>
                <a:ea typeface="Calibri" pitchFamily="34" charset="-122"/>
                <a:cs typeface="Calibri" pitchFamily="34" charset="-120"/>
              </a:rPr>
              <a:t>ACT 1 · BEFORE</a:t>
            </a:r>
            <a:endParaRPr lang="en-US" sz="1000" dirty="0"/>
          </a:p>
        </p:txBody>
      </p:sp>
      <p:sp>
        <p:nvSpPr>
          <p:cNvPr id="3" name="Text 1"/>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14213D"/>
                </a:solidFill>
                <a:latin typeface="Cambria" pitchFamily="34" charset="0"/>
                <a:ea typeface="Cambria" pitchFamily="34" charset="-122"/>
                <a:cs typeface="Cambria" pitchFamily="34" charset="-120"/>
              </a:rPr>
              <a:t>Risky seats caught before T0</a:t>
            </a:r>
            <a:endParaRPr lang="en-US" sz="3000" dirty="0"/>
          </a:p>
        </p:txBody>
      </p:sp>
      <p:sp>
        <p:nvSpPr>
          <p:cNvPr id="4" name="Text 2"/>
          <p:cNvSpPr txBox="1"/>
          <p:nvPr/>
        </p:nvSpPr>
        <p:spPr>
          <a:xfrm>
            <a:off x="457200" y="1188720"/>
            <a:ext cx="4937760" cy="3383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4213D"/>
                </a:solidFill>
                <a:latin typeface="Calibri" pitchFamily="34" charset="0"/>
                <a:ea typeface="Calibri" pitchFamily="34" charset="-122"/>
                <a:cs typeface="Calibri" pitchFamily="34" charset="-120"/>
              </a:rPr>
              <a:t>Seat A running AnyDesk and an overlay tool → gate names both and blocks.</a:t>
            </a:r>
            <a:endParaRPr lang="en-US" sz="1400" dirty="0"/>
          </a:p>
          <a:p>
            <a:pPr marL="342900" indent="-342900">
              <a:spcAft>
                <a:spcPts val="800"/>
              </a:spcAft>
              <a:buSzPct val="100000"/>
              <a:buChar char="•"/>
            </a:pPr>
            <a:r>
              <a:rPr lang="en-US" sz="1400" dirty="0">
                <a:solidFill>
                  <a:srgbClr val="14213D"/>
                </a:solidFill>
                <a:latin typeface="Calibri" pitchFamily="34" charset="0"/>
                <a:ea typeface="Calibri" pitchFamily="34" charset="-122"/>
                <a:cs typeface="Calibri" pitchFamily="34" charset="-120"/>
              </a:rPr>
              <a:t>Close them, press Re-check → green; all three seats start.</a:t>
            </a:r>
            <a:endParaRPr lang="en-US" sz="1400" dirty="0"/>
          </a:p>
          <a:p>
            <a:pPr marL="342900" indent="-342900">
              <a:spcAft>
                <a:spcPts val="800"/>
              </a:spcAft>
              <a:buSzPct val="100000"/>
              <a:buChar char="•"/>
            </a:pPr>
            <a:r>
              <a:rPr lang="en-US" sz="1400" dirty="0">
                <a:solidFill>
                  <a:srgbClr val="14213D"/>
                </a:solidFill>
                <a:latin typeface="Calibri" pitchFamily="34" charset="0"/>
                <a:ea typeface="Calibri" pitchFamily="34" charset="-122"/>
                <a:cs typeface="Calibri" pitchFamily="34" charset="-120"/>
              </a:rPr>
              <a:t>Scribe seat: 2 faces expected, 3 faces raise one flag that a human reviewer clears.</a:t>
            </a:r>
            <a:endParaRPr lang="en-US" sz="1400" dirty="0"/>
          </a:p>
          <a:p>
            <a:pPr marL="342900" indent="-342900">
              <a:spcAft>
                <a:spcPts val="800"/>
              </a:spcAft>
              <a:buSzPct val="100000"/>
              <a:buChar char="•"/>
            </a:pPr>
            <a:r>
              <a:rPr lang="en-US" sz="1400" dirty="0">
                <a:solidFill>
                  <a:srgbClr val="14213D"/>
                </a:solidFill>
                <a:latin typeface="Calibri" pitchFamily="34" charset="0"/>
                <a:ea typeface="Calibri" pitchFamily="34" charset="-122"/>
                <a:cs typeface="Calibri" pitchFamily="34" charset="-120"/>
              </a:rPr>
              <a:t>In-exam AnyDesk → an integrity entry, never an auto-submit; the seat keeps answering.</a:t>
            </a:r>
            <a:endParaRPr lang="en-US" sz="1400" dirty="0"/>
          </a:p>
        </p:txBody>
      </p:sp>
      <p:sp>
        <p:nvSpPr>
          <p:cNvPr id="5" name="Shape 3"/>
          <p:cNvSpPr/>
          <p:nvPr/>
        </p:nvSpPr>
        <p:spPr>
          <a:xfrm>
            <a:off x="5760720" y="1188720"/>
            <a:ext cx="2926080" cy="1234440"/>
          </a:xfrm>
          <a:prstGeom prst="roundRect">
            <a:avLst>
              <a:gd name="adj" fmla="val 5926"/>
            </a:avLst>
          </a:prstGeom>
          <a:solidFill>
            <a:srgbClr val="EEF1F6"/>
          </a:solidFill>
          <a:ln/>
        </p:spPr>
      </p:sp>
      <p:sp>
        <p:nvSpPr>
          <p:cNvPr id="6" name="Text 4"/>
          <p:cNvSpPr txBox="1"/>
          <p:nvPr/>
        </p:nvSpPr>
        <p:spPr>
          <a:xfrm>
            <a:off x="5897880" y="1298448"/>
            <a:ext cx="2651760" cy="640080"/>
          </a:xfrm>
          <a:prstGeom prst="rect">
            <a:avLst/>
          </a:prstGeom>
          <a:noFill/>
          <a:ln/>
        </p:spPr>
        <p:txBody>
          <a:bodyPr wrap="square" lIns="0" tIns="0" rIns="0" bIns="0" rtlCol="0" anchor="ctr"/>
          <a:lstStyle/>
          <a:p>
            <a:pPr indent="0" marL="0">
              <a:buNone/>
            </a:pPr>
            <a:r>
              <a:rPr lang="en-US" sz="3000" b="1" dirty="0">
                <a:solidFill>
                  <a:srgbClr val="E07A1F"/>
                </a:solidFill>
                <a:latin typeface="Cambria" pitchFamily="34" charset="0"/>
                <a:ea typeface="Cambria" pitchFamily="34" charset="-122"/>
                <a:cs typeface="Cambria" pitchFamily="34" charset="-120"/>
              </a:rPr>
              <a:t>2 of 2</a:t>
            </a:r>
            <a:endParaRPr lang="en-US" sz="3000" dirty="0"/>
          </a:p>
        </p:txBody>
      </p:sp>
      <p:sp>
        <p:nvSpPr>
          <p:cNvPr id="7" name="Text 5"/>
          <p:cNvSpPr txBox="1"/>
          <p:nvPr/>
        </p:nvSpPr>
        <p:spPr>
          <a:xfrm>
            <a:off x="5897880" y="1938528"/>
            <a:ext cx="2651760" cy="411480"/>
          </a:xfrm>
          <a:prstGeom prst="rect">
            <a:avLst/>
          </a:prstGeom>
          <a:noFill/>
          <a:ln/>
        </p:spPr>
        <p:txBody>
          <a:bodyPr wrap="square" lIns="0" tIns="0" rIns="0" bIns="0" rtlCol="0" anchor="t"/>
          <a:lstStyle/>
          <a:p>
            <a:pPr indent="0" marL="0">
              <a:buNone/>
            </a:pPr>
            <a:r>
              <a:rPr lang="en-US" sz="1100" dirty="0">
                <a:solidFill>
                  <a:srgbClr val="5B6475"/>
                </a:solidFill>
                <a:latin typeface="Calibri" pitchFamily="34" charset="0"/>
                <a:ea typeface="Calibri" pitchFamily="34" charset="-122"/>
                <a:cs typeface="Calibri" pitchFamily="34" charset="-120"/>
              </a:rPr>
              <a:t>tools named and blocked (AnyDesk, overlay-sim)</a:t>
            </a:r>
            <a:endParaRPr lang="en-US" sz="1100" dirty="0"/>
          </a:p>
        </p:txBody>
      </p:sp>
      <p:sp>
        <p:nvSpPr>
          <p:cNvPr id="8" name="Shape 6"/>
          <p:cNvSpPr/>
          <p:nvPr/>
        </p:nvSpPr>
        <p:spPr>
          <a:xfrm>
            <a:off x="5760720" y="2606040"/>
            <a:ext cx="2926080" cy="1234440"/>
          </a:xfrm>
          <a:prstGeom prst="roundRect">
            <a:avLst>
              <a:gd name="adj" fmla="val 5926"/>
            </a:avLst>
          </a:prstGeom>
          <a:solidFill>
            <a:srgbClr val="EEF1F6"/>
          </a:solidFill>
          <a:ln/>
        </p:spPr>
      </p:sp>
      <p:sp>
        <p:nvSpPr>
          <p:cNvPr id="9" name="Text 7"/>
          <p:cNvSpPr txBox="1"/>
          <p:nvPr/>
        </p:nvSpPr>
        <p:spPr>
          <a:xfrm>
            <a:off x="5897880" y="2715768"/>
            <a:ext cx="2651760" cy="640080"/>
          </a:xfrm>
          <a:prstGeom prst="rect">
            <a:avLst/>
          </a:prstGeom>
          <a:noFill/>
          <a:ln/>
        </p:spPr>
        <p:txBody>
          <a:bodyPr wrap="square" lIns="0" tIns="0" rIns="0" bIns="0" rtlCol="0" anchor="ctr"/>
          <a:lstStyle/>
          <a:p>
            <a:pPr indent="0" marL="0">
              <a:buNone/>
            </a:pPr>
            <a:r>
              <a:rPr lang="en-US" sz="2200" b="1" dirty="0">
                <a:solidFill>
                  <a:srgbClr val="E07A1F"/>
                </a:solidFill>
                <a:latin typeface="Cambria" pitchFamily="34" charset="0"/>
                <a:ea typeface="Cambria" pitchFamily="34" charset="-122"/>
                <a:cs typeface="Cambria" pitchFamily="34" charset="-120"/>
              </a:rPr>
              <a:t>5 of 5 → 1 flag</a:t>
            </a:r>
            <a:endParaRPr lang="en-US" sz="2200" dirty="0"/>
          </a:p>
        </p:txBody>
      </p:sp>
      <p:sp>
        <p:nvSpPr>
          <p:cNvPr id="10" name="Text 8"/>
          <p:cNvSpPr txBox="1"/>
          <p:nvPr/>
        </p:nvSpPr>
        <p:spPr>
          <a:xfrm>
            <a:off x="5897880" y="3355848"/>
            <a:ext cx="2651760" cy="411480"/>
          </a:xfrm>
          <a:prstGeom prst="rect">
            <a:avLst/>
          </a:prstGeom>
          <a:noFill/>
          <a:ln/>
        </p:spPr>
        <p:txBody>
          <a:bodyPr wrap="square" lIns="0" tIns="0" rIns="0" bIns="0" rtlCol="0" anchor="t"/>
          <a:lstStyle/>
          <a:p>
            <a:pPr indent="0" marL="0">
              <a:buNone/>
            </a:pPr>
            <a:r>
              <a:rPr lang="en-US" sz="1100" dirty="0">
                <a:solidFill>
                  <a:srgbClr val="5B6475"/>
                </a:solidFill>
                <a:latin typeface="Calibri" pitchFamily="34" charset="0"/>
                <a:ea typeface="Calibri" pitchFamily="34" charset="-122"/>
                <a:cs typeface="Calibri" pitchFamily="34" charset="-120"/>
              </a:rPr>
              <a:t>3-face samples → one face-extra flag, human-cleared</a:t>
            </a:r>
            <a:endParaRPr lang="en-US" sz="1100" dirty="0"/>
          </a:p>
        </p:txBody>
      </p:sp>
      <p:sp>
        <p:nvSpPr>
          <p:cNvPr id="11" name="Text 9"/>
          <p:cNvSpPr txBox="1"/>
          <p:nvPr/>
        </p:nvSpPr>
        <p:spPr>
          <a:xfrm>
            <a:off x="457200" y="4754880"/>
            <a:ext cx="8229600" cy="256032"/>
          </a:xfrm>
          <a:prstGeom prst="rect">
            <a:avLst/>
          </a:prstGeom>
          <a:noFill/>
          <a:ln/>
        </p:spPr>
        <p:txBody>
          <a:bodyPr wrap="square" lIns="0" tIns="0" rIns="0" bIns="0" rtlCol="0" anchor="ctr"/>
          <a:lstStyle/>
          <a:p>
            <a:pPr indent="0" marL="0">
              <a:buNone/>
            </a:pPr>
            <a:r>
              <a:rPr lang="en-US" sz="900" i="1" dirty="0">
                <a:solidFill>
                  <a:srgbClr val="5B6475"/>
                </a:solidFill>
                <a:latin typeface="Calibri" pitchFamily="34" charset="0"/>
                <a:ea typeface="Calibri" pitchFamily="34" charset="-122"/>
                <a:cs typeface="Calibri" pitchFamily="34" charset="-120"/>
              </a:rPr>
              <a:t>Evidence: docs/evidence/stage5-act1.txt, stage5-gate-selftest.json. Detection is by process name.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0" y="109728"/>
            <a:ext cx="2011680" cy="274320"/>
          </a:xfrm>
          <a:prstGeom prst="rect">
            <a:avLst/>
          </a:prstGeom>
          <a:noFill/>
          <a:ln/>
        </p:spPr>
        <p:txBody>
          <a:bodyPr wrap="square" lIns="0" tIns="0" rIns="0" bIns="0" rtlCol="0" anchor="ctr"/>
          <a:lstStyle/>
          <a:p>
            <a:pPr algn="r" indent="0" marL="0">
              <a:buNone/>
            </a:pPr>
            <a:r>
              <a:rPr lang="en-US" sz="1000" b="1" dirty="0">
                <a:solidFill>
                  <a:srgbClr val="E07A1F"/>
                </a:solidFill>
                <a:latin typeface="Calibri" pitchFamily="34" charset="0"/>
                <a:ea typeface="Calibri" pitchFamily="34" charset="-122"/>
                <a:cs typeface="Calibri" pitchFamily="34" charset="-120"/>
              </a:rPr>
              <a:t>ACT 2 · T0</a:t>
            </a:r>
            <a:endParaRPr lang="en-US" sz="1000" dirty="0"/>
          </a:p>
        </p:txBody>
      </p:sp>
      <p:sp>
        <p:nvSpPr>
          <p:cNvPr id="3" name="Text 1"/>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14213D"/>
                </a:solidFill>
                <a:latin typeface="Cambria" pitchFamily="34" charset="0"/>
                <a:ea typeface="Cambria" pitchFamily="34" charset="-122"/>
                <a:cs typeface="Cambria" pitchFamily="34" charset="-120"/>
              </a:rPr>
              <a:t>The exam starts on time, even offline</a:t>
            </a:r>
            <a:endParaRPr lang="en-US" sz="3000" dirty="0"/>
          </a:p>
        </p:txBody>
      </p:sp>
      <p:sp>
        <p:nvSpPr>
          <p:cNvPr id="4" name="Text 2"/>
          <p:cNvSpPr txBox="1"/>
          <p:nvPr/>
        </p:nvSpPr>
        <p:spPr>
          <a:xfrm>
            <a:off x="457200" y="1188720"/>
            <a:ext cx="4937760" cy="3383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4213D"/>
                </a:solidFill>
                <a:latin typeface="Calibri" pitchFamily="34" charset="0"/>
                <a:ea typeface="Calibri" pitchFamily="34" charset="-122"/>
                <a:cs typeface="Calibri" pitchFamily="34" charset="-120"/>
              </a:rPr>
              <a:t>We degrade Centre 42's link: SYNC_LAG warns before the cut.</a:t>
            </a:r>
            <a:endParaRPr lang="en-US" sz="1400" dirty="0"/>
          </a:p>
          <a:p>
            <a:pPr marL="342900" indent="-342900">
              <a:spcAft>
                <a:spcPts val="800"/>
              </a:spcAft>
              <a:buSzPct val="100000"/>
              <a:buChar char="•"/>
            </a:pPr>
            <a:r>
              <a:rPr lang="en-US" sz="1400" dirty="0">
                <a:solidFill>
                  <a:srgbClr val="14213D"/>
                </a:solidFill>
                <a:latin typeface="Calibri" pitchFamily="34" charset="0"/>
                <a:ea typeface="Calibri" pitchFamily="34" charset="-122"/>
                <a:cs typeface="Calibri" pitchFamily="34" charset="-120"/>
              </a:rPr>
              <a:t>Two of three custodians approve; one alone cannot release the paper.</a:t>
            </a:r>
            <a:endParaRPr lang="en-US" sz="1400" dirty="0"/>
          </a:p>
          <a:p>
            <a:pPr marL="342900" indent="-342900">
              <a:spcAft>
                <a:spcPts val="800"/>
              </a:spcAft>
              <a:buSzPct val="100000"/>
              <a:buChar char="•"/>
            </a:pPr>
            <a:r>
              <a:rPr lang="en-US" sz="1400" dirty="0">
                <a:solidFill>
                  <a:srgbClr val="14213D"/>
                </a:solidFill>
                <a:latin typeface="Calibri" pitchFamily="34" charset="0"/>
                <a:ea typeface="Calibri" pitchFamily="34" charset="-122"/>
                <a:cs typeface="Calibri" pitchFamily="34" charset="-120"/>
              </a:rPr>
              <a:t>The superintendent types a phoned code: it unlocks only Centre 42, this shift. A typo or another centre's code fails.</a:t>
            </a:r>
            <a:endParaRPr lang="en-US" sz="1400" dirty="0"/>
          </a:p>
          <a:p>
            <a:pPr marL="342900" indent="-342900">
              <a:spcAft>
                <a:spcPts val="800"/>
              </a:spcAft>
              <a:buSzPct val="100000"/>
              <a:buChar char="•"/>
            </a:pPr>
            <a:r>
              <a:rPr lang="en-US" sz="1400" dirty="0">
                <a:solidFill>
                  <a:srgbClr val="14213D"/>
                </a:solidFill>
                <a:latin typeface="Calibri" pitchFamily="34" charset="0"/>
                <a:ea typeface="Calibri" pitchFamily="34" charset="-122"/>
                <a:cs typeface="Calibri" pitchFamily="34" charset="-120"/>
              </a:rPr>
              <a:t>Before T0 the paper is ciphertext on disk; a forged key from the relay is rejected.</a:t>
            </a:r>
            <a:endParaRPr lang="en-US" sz="1400" dirty="0"/>
          </a:p>
        </p:txBody>
      </p:sp>
      <p:sp>
        <p:nvSpPr>
          <p:cNvPr id="5" name="Shape 3"/>
          <p:cNvSpPr/>
          <p:nvPr/>
        </p:nvSpPr>
        <p:spPr>
          <a:xfrm>
            <a:off x="5760720" y="1188720"/>
            <a:ext cx="2926080" cy="1234440"/>
          </a:xfrm>
          <a:prstGeom prst="roundRect">
            <a:avLst>
              <a:gd name="adj" fmla="val 5926"/>
            </a:avLst>
          </a:prstGeom>
          <a:solidFill>
            <a:srgbClr val="EEF1F6"/>
          </a:solidFill>
          <a:ln/>
        </p:spPr>
      </p:sp>
      <p:sp>
        <p:nvSpPr>
          <p:cNvPr id="6" name="Text 4"/>
          <p:cNvSpPr txBox="1"/>
          <p:nvPr/>
        </p:nvSpPr>
        <p:spPr>
          <a:xfrm>
            <a:off x="5897880" y="1298448"/>
            <a:ext cx="2651760" cy="640080"/>
          </a:xfrm>
          <a:prstGeom prst="rect">
            <a:avLst/>
          </a:prstGeom>
          <a:noFill/>
          <a:ln/>
        </p:spPr>
        <p:txBody>
          <a:bodyPr wrap="square" lIns="0" tIns="0" rIns="0" bIns="0" rtlCol="0" anchor="ctr"/>
          <a:lstStyle/>
          <a:p>
            <a:pPr indent="0" marL="0">
              <a:buNone/>
            </a:pPr>
            <a:r>
              <a:rPr lang="en-US" sz="2200" b="1" dirty="0">
                <a:solidFill>
                  <a:srgbClr val="E07A1F"/>
                </a:solidFill>
                <a:latin typeface="Cambria" pitchFamily="34" charset="0"/>
                <a:ea typeface="Cambria" pitchFamily="34" charset="-122"/>
                <a:cs typeface="Cambria" pitchFamily="34" charset="-120"/>
              </a:rPr>
              <a:t>1.0–1.9 s</a:t>
            </a:r>
            <a:endParaRPr lang="en-US" sz="2200" dirty="0"/>
          </a:p>
        </p:txBody>
      </p:sp>
      <p:sp>
        <p:nvSpPr>
          <p:cNvPr id="7" name="Text 5"/>
          <p:cNvSpPr txBox="1"/>
          <p:nvPr/>
        </p:nvSpPr>
        <p:spPr>
          <a:xfrm>
            <a:off x="5897880" y="1938528"/>
            <a:ext cx="2651760" cy="411480"/>
          </a:xfrm>
          <a:prstGeom prst="rect">
            <a:avLst/>
          </a:prstGeom>
          <a:noFill/>
          <a:ln/>
        </p:spPr>
        <p:txBody>
          <a:bodyPr wrap="square" lIns="0" tIns="0" rIns="0" bIns="0" rtlCol="0" anchor="t"/>
          <a:lstStyle/>
          <a:p>
            <a:pPr indent="0" marL="0">
              <a:buNone/>
            </a:pPr>
            <a:r>
              <a:rPr lang="en-US" sz="1100" dirty="0">
                <a:solidFill>
                  <a:srgbClr val="5B6475"/>
                </a:solidFill>
                <a:latin typeface="Calibri" pitchFamily="34" charset="0"/>
                <a:ea typeface="Calibri" pitchFamily="34" charset="-122"/>
                <a:cs typeface="Calibri" pitchFamily="34" charset="-120"/>
              </a:rPr>
              <a:t>SYNC_LAG warning before the WAN cut (3 runs)</a:t>
            </a:r>
            <a:endParaRPr lang="en-US" sz="1100" dirty="0"/>
          </a:p>
        </p:txBody>
      </p:sp>
      <p:sp>
        <p:nvSpPr>
          <p:cNvPr id="8" name="Shape 6"/>
          <p:cNvSpPr/>
          <p:nvPr/>
        </p:nvSpPr>
        <p:spPr>
          <a:xfrm>
            <a:off x="5760720" y="2606040"/>
            <a:ext cx="2926080" cy="1234440"/>
          </a:xfrm>
          <a:prstGeom prst="roundRect">
            <a:avLst>
              <a:gd name="adj" fmla="val 5926"/>
            </a:avLst>
          </a:prstGeom>
          <a:solidFill>
            <a:srgbClr val="EEF1F6"/>
          </a:solidFill>
          <a:ln/>
        </p:spPr>
      </p:sp>
      <p:sp>
        <p:nvSpPr>
          <p:cNvPr id="9" name="Text 7"/>
          <p:cNvSpPr txBox="1"/>
          <p:nvPr/>
        </p:nvSpPr>
        <p:spPr>
          <a:xfrm>
            <a:off x="5897880" y="2715768"/>
            <a:ext cx="2651760" cy="640080"/>
          </a:xfrm>
          <a:prstGeom prst="rect">
            <a:avLst/>
          </a:prstGeom>
          <a:noFill/>
          <a:ln/>
        </p:spPr>
        <p:txBody>
          <a:bodyPr wrap="square" lIns="0" tIns="0" rIns="0" bIns="0" rtlCol="0" anchor="ctr"/>
          <a:lstStyle/>
          <a:p>
            <a:pPr indent="0" marL="0">
              <a:buNone/>
            </a:pPr>
            <a:r>
              <a:rPr lang="en-US" sz="3000" b="1" dirty="0">
                <a:solidFill>
                  <a:srgbClr val="E07A1F"/>
                </a:solidFill>
                <a:latin typeface="Cambria" pitchFamily="34" charset="0"/>
                <a:ea typeface="Cambria" pitchFamily="34" charset="-122"/>
                <a:cs typeface="Cambria" pitchFamily="34" charset="-120"/>
              </a:rPr>
              <a:t>2 of 3</a:t>
            </a:r>
            <a:endParaRPr lang="en-US" sz="3000" dirty="0"/>
          </a:p>
        </p:txBody>
      </p:sp>
      <p:sp>
        <p:nvSpPr>
          <p:cNvPr id="10" name="Text 8"/>
          <p:cNvSpPr txBox="1"/>
          <p:nvPr/>
        </p:nvSpPr>
        <p:spPr>
          <a:xfrm>
            <a:off x="5897880" y="3355848"/>
            <a:ext cx="2651760" cy="411480"/>
          </a:xfrm>
          <a:prstGeom prst="rect">
            <a:avLst/>
          </a:prstGeom>
          <a:noFill/>
          <a:ln/>
        </p:spPr>
        <p:txBody>
          <a:bodyPr wrap="square" lIns="0" tIns="0" rIns="0" bIns="0" rtlCol="0" anchor="t"/>
          <a:lstStyle/>
          <a:p>
            <a:pPr indent="0" marL="0">
              <a:buNone/>
            </a:pPr>
            <a:r>
              <a:rPr lang="en-US" sz="1100" dirty="0">
                <a:solidFill>
                  <a:srgbClr val="5B6475"/>
                </a:solidFill>
                <a:latin typeface="Calibri" pitchFamily="34" charset="0"/>
                <a:ea typeface="Calibri" pitchFamily="34" charset="-122"/>
                <a:cs typeface="Calibri" pitchFamily="34" charset="-120"/>
              </a:rPr>
              <a:t>custodians needed to release paper keys</a:t>
            </a:r>
            <a:endParaRPr lang="en-US" sz="1100" dirty="0"/>
          </a:p>
        </p:txBody>
      </p:sp>
      <p:sp>
        <p:nvSpPr>
          <p:cNvPr id="11" name="Text 9"/>
          <p:cNvSpPr txBox="1"/>
          <p:nvPr/>
        </p:nvSpPr>
        <p:spPr>
          <a:xfrm>
            <a:off x="457200" y="4754880"/>
            <a:ext cx="8229600" cy="256032"/>
          </a:xfrm>
          <a:prstGeom prst="rect">
            <a:avLst/>
          </a:prstGeom>
          <a:noFill/>
          <a:ln/>
        </p:spPr>
        <p:txBody>
          <a:bodyPr wrap="square" lIns="0" tIns="0" rIns="0" bIns="0" rtlCol="0" anchor="ctr"/>
          <a:lstStyle/>
          <a:p>
            <a:pPr indent="0" marL="0">
              <a:buNone/>
            </a:pPr>
            <a:r>
              <a:rPr lang="en-US" sz="900" i="1" dirty="0">
                <a:solidFill>
                  <a:srgbClr val="5B6475"/>
                </a:solidFill>
                <a:latin typeface="Calibri" pitchFamily="34" charset="0"/>
                <a:ea typeface="Calibri" pitchFamily="34" charset="-122"/>
                <a:cs typeface="Calibri" pitchFamily="34" charset="-120"/>
              </a:rPr>
              <a:t>Evidence: docs/evidence/stage8-act2.txt (PASS, 308 candidates, 7 centres); claims-ledger P1–P4, D16. SYNC_LAG is proven on our chaos drill only, not real WAN data.</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6675120" y="109728"/>
            <a:ext cx="2011680" cy="274320"/>
          </a:xfrm>
          <a:prstGeom prst="rect">
            <a:avLst/>
          </a:prstGeom>
          <a:noFill/>
          <a:ln/>
        </p:spPr>
        <p:txBody>
          <a:bodyPr wrap="square" lIns="0" tIns="0" rIns="0" bIns="0" rtlCol="0" anchor="ctr"/>
          <a:lstStyle/>
          <a:p>
            <a:pPr algn="r" indent="0" marL="0">
              <a:buNone/>
            </a:pPr>
            <a:r>
              <a:rPr lang="en-US" sz="1000" b="1" dirty="0">
                <a:solidFill>
                  <a:srgbClr val="E07A1F"/>
                </a:solidFill>
                <a:latin typeface="Calibri" pitchFamily="34" charset="0"/>
                <a:ea typeface="Calibri" pitchFamily="34" charset="-122"/>
                <a:cs typeface="Calibri" pitchFamily="34" charset="-120"/>
              </a:rPr>
              <a:t>ACT 3 · DURING</a:t>
            </a:r>
            <a:endParaRPr lang="en-US" sz="1000" dirty="0"/>
          </a:p>
        </p:txBody>
      </p:sp>
      <p:sp>
        <p:nvSpPr>
          <p:cNvPr id="3" name="Text 1"/>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We pulled the plug on a data centre</a:t>
            </a:r>
            <a:endParaRPr lang="en-US" sz="3000" dirty="0"/>
          </a:p>
        </p:txBody>
      </p:sp>
      <p:sp>
        <p:nvSpPr>
          <p:cNvPr id="4" name="Shape 2"/>
          <p:cNvSpPr/>
          <p:nvPr/>
        </p:nvSpPr>
        <p:spPr>
          <a:xfrm>
            <a:off x="457200" y="1280160"/>
            <a:ext cx="2560320" cy="1234440"/>
          </a:xfrm>
          <a:prstGeom prst="roundRect">
            <a:avLst>
              <a:gd name="adj" fmla="val 5926"/>
            </a:avLst>
          </a:prstGeom>
          <a:solidFill>
            <a:srgbClr val="1F2F55"/>
          </a:solidFill>
          <a:ln/>
        </p:spPr>
      </p:sp>
      <p:sp>
        <p:nvSpPr>
          <p:cNvPr id="5" name="Text 3"/>
          <p:cNvSpPr txBox="1"/>
          <p:nvPr/>
        </p:nvSpPr>
        <p:spPr>
          <a:xfrm>
            <a:off x="594360" y="1389888"/>
            <a:ext cx="2286000" cy="640080"/>
          </a:xfrm>
          <a:prstGeom prst="rect">
            <a:avLst/>
          </a:prstGeom>
          <a:noFill/>
          <a:ln/>
        </p:spPr>
        <p:txBody>
          <a:bodyPr wrap="square" lIns="0" tIns="0" rIns="0" bIns="0" rtlCol="0" anchor="ctr"/>
          <a:lstStyle/>
          <a:p>
            <a:pPr indent="0" marL="0">
              <a:buNone/>
            </a:pPr>
            <a:r>
              <a:rPr lang="en-US" sz="3000" b="1" dirty="0">
                <a:solidFill>
                  <a:srgbClr val="6FD3A0"/>
                </a:solidFill>
                <a:latin typeface="Cambria" pitchFamily="34" charset="0"/>
                <a:ea typeface="Cambria" pitchFamily="34" charset="-122"/>
                <a:cs typeface="Cambria" pitchFamily="34" charset="-120"/>
              </a:rPr>
              <a:t>0</a:t>
            </a:r>
            <a:endParaRPr lang="en-US" sz="3000" dirty="0"/>
          </a:p>
        </p:txBody>
      </p:sp>
      <p:sp>
        <p:nvSpPr>
          <p:cNvPr id="6" name="Text 4"/>
          <p:cNvSpPr txBox="1"/>
          <p:nvPr/>
        </p:nvSpPr>
        <p:spPr>
          <a:xfrm>
            <a:off x="594360" y="2029968"/>
            <a:ext cx="2286000" cy="411480"/>
          </a:xfrm>
          <a:prstGeom prst="rect">
            <a:avLst/>
          </a:prstGeom>
          <a:noFill/>
          <a:ln/>
        </p:spPr>
        <p:txBody>
          <a:bodyPr wrap="square" lIns="0" tIns="0" rIns="0" bIns="0" rtlCol="0" anchor="t"/>
          <a:lstStyle/>
          <a:p>
            <a:pPr indent="0" marL="0">
              <a:buNone/>
            </a:pPr>
            <a:r>
              <a:rPr lang="en-US" sz="1100" dirty="0">
                <a:solidFill>
                  <a:srgbClr val="C9D2E3"/>
                </a:solidFill>
                <a:latin typeface="Calibri" pitchFamily="34" charset="0"/>
                <a:ea typeface="Calibri" pitchFamily="34" charset="-122"/>
                <a:cs typeface="Calibri" pitchFamily="34" charset="-120"/>
              </a:rPr>
              <a:t>answers lost, P1 closed with lost 0</a:t>
            </a:r>
            <a:endParaRPr lang="en-US" sz="1100" dirty="0"/>
          </a:p>
        </p:txBody>
      </p:sp>
      <p:sp>
        <p:nvSpPr>
          <p:cNvPr id="7" name="Shape 5"/>
          <p:cNvSpPr/>
          <p:nvPr/>
        </p:nvSpPr>
        <p:spPr>
          <a:xfrm>
            <a:off x="3291840" y="1280160"/>
            <a:ext cx="2560320" cy="1234440"/>
          </a:xfrm>
          <a:prstGeom prst="roundRect">
            <a:avLst>
              <a:gd name="adj" fmla="val 5926"/>
            </a:avLst>
          </a:prstGeom>
          <a:solidFill>
            <a:srgbClr val="1F2F55"/>
          </a:solidFill>
          <a:ln/>
        </p:spPr>
      </p:sp>
      <p:sp>
        <p:nvSpPr>
          <p:cNvPr id="8" name="Text 6"/>
          <p:cNvSpPr txBox="1"/>
          <p:nvPr/>
        </p:nvSpPr>
        <p:spPr>
          <a:xfrm>
            <a:off x="3429000" y="1389888"/>
            <a:ext cx="2286000" cy="640080"/>
          </a:xfrm>
          <a:prstGeom prst="rect">
            <a:avLst/>
          </a:prstGeom>
          <a:noFill/>
          <a:ln/>
        </p:spPr>
        <p:txBody>
          <a:bodyPr wrap="square" lIns="0" tIns="0" rIns="0" bIns="0" rtlCol="0" anchor="ctr"/>
          <a:lstStyle/>
          <a:p>
            <a:pPr indent="0" marL="0">
              <a:buNone/>
            </a:pPr>
            <a:r>
              <a:rPr lang="en-US" sz="3000" b="1" dirty="0">
                <a:solidFill>
                  <a:srgbClr val="E07A1F"/>
                </a:solidFill>
                <a:latin typeface="Cambria" pitchFamily="34" charset="0"/>
                <a:ea typeface="Cambria" pitchFamily="34" charset="-122"/>
                <a:cs typeface="Cambria" pitchFamily="34" charset="-120"/>
              </a:rPr>
              <a:t>6,593</a:t>
            </a:r>
            <a:endParaRPr lang="en-US" sz="3000" dirty="0"/>
          </a:p>
        </p:txBody>
      </p:sp>
      <p:sp>
        <p:nvSpPr>
          <p:cNvPr id="9" name="Text 7"/>
          <p:cNvSpPr txBox="1"/>
          <p:nvPr/>
        </p:nvSpPr>
        <p:spPr>
          <a:xfrm>
            <a:off x="3429000" y="2029968"/>
            <a:ext cx="2286000" cy="411480"/>
          </a:xfrm>
          <a:prstGeom prst="rect">
            <a:avLst/>
          </a:prstGeom>
          <a:noFill/>
          <a:ln/>
        </p:spPr>
        <p:txBody>
          <a:bodyPr wrap="square" lIns="0" tIns="0" rIns="0" bIns="0" rtlCol="0" anchor="t"/>
          <a:lstStyle/>
          <a:p>
            <a:pPr indent="0" marL="0">
              <a:buNone/>
            </a:pPr>
            <a:r>
              <a:rPr lang="en-US" sz="1100" dirty="0">
                <a:solidFill>
                  <a:srgbClr val="C9D2E3"/>
                </a:solidFill>
                <a:latin typeface="Calibri" pitchFamily="34" charset="0"/>
                <a:ea typeface="Calibri" pitchFamily="34" charset="-122"/>
                <a:cs typeface="Calibri" pitchFamily="34" charset="-120"/>
              </a:rPr>
              <a:t>entries: sent = verified = stored</a:t>
            </a:r>
            <a:endParaRPr lang="en-US" sz="1100" dirty="0"/>
          </a:p>
        </p:txBody>
      </p:sp>
      <p:sp>
        <p:nvSpPr>
          <p:cNvPr id="10" name="Shape 8"/>
          <p:cNvSpPr/>
          <p:nvPr/>
        </p:nvSpPr>
        <p:spPr>
          <a:xfrm>
            <a:off x="6126480" y="1280160"/>
            <a:ext cx="2560320" cy="1234440"/>
          </a:xfrm>
          <a:prstGeom prst="roundRect">
            <a:avLst>
              <a:gd name="adj" fmla="val 5926"/>
            </a:avLst>
          </a:prstGeom>
          <a:solidFill>
            <a:srgbClr val="1F2F55"/>
          </a:solidFill>
          <a:ln/>
        </p:spPr>
      </p:sp>
      <p:sp>
        <p:nvSpPr>
          <p:cNvPr id="11" name="Text 9"/>
          <p:cNvSpPr txBox="1"/>
          <p:nvPr/>
        </p:nvSpPr>
        <p:spPr>
          <a:xfrm>
            <a:off x="6263640" y="1389888"/>
            <a:ext cx="2286000" cy="640080"/>
          </a:xfrm>
          <a:prstGeom prst="rect">
            <a:avLst/>
          </a:prstGeom>
          <a:noFill/>
          <a:ln/>
        </p:spPr>
        <p:txBody>
          <a:bodyPr wrap="square" lIns="0" tIns="0" rIns="0" bIns="0" rtlCol="0" anchor="ctr"/>
          <a:lstStyle/>
          <a:p>
            <a:pPr indent="0" marL="0">
              <a:buNone/>
            </a:pPr>
            <a:r>
              <a:rPr lang="en-US" sz="2200" b="1" dirty="0">
                <a:solidFill>
                  <a:srgbClr val="E07A1F"/>
                </a:solidFill>
                <a:latin typeface="Cambria" pitchFamily="34" charset="0"/>
                <a:ea typeface="Cambria" pitchFamily="34" charset="-122"/>
                <a:cs typeface="Cambria" pitchFamily="34" charset="-120"/>
              </a:rPr>
              <a:t>1.3–1.9 s</a:t>
            </a:r>
            <a:endParaRPr lang="en-US" sz="2200" dirty="0"/>
          </a:p>
        </p:txBody>
      </p:sp>
      <p:sp>
        <p:nvSpPr>
          <p:cNvPr id="12" name="Text 10"/>
          <p:cNvSpPr txBox="1"/>
          <p:nvPr/>
        </p:nvSpPr>
        <p:spPr>
          <a:xfrm>
            <a:off x="6263640" y="2029968"/>
            <a:ext cx="2286000" cy="411480"/>
          </a:xfrm>
          <a:prstGeom prst="rect">
            <a:avLst/>
          </a:prstGeom>
          <a:noFill/>
          <a:ln/>
        </p:spPr>
        <p:txBody>
          <a:bodyPr wrap="square" lIns="0" tIns="0" rIns="0" bIns="0" rtlCol="0" anchor="t"/>
          <a:lstStyle/>
          <a:p>
            <a:pPr indent="0" marL="0">
              <a:buNone/>
            </a:pPr>
            <a:r>
              <a:rPr lang="en-US" sz="1100" dirty="0">
                <a:solidFill>
                  <a:srgbClr val="C9D2E3"/>
                </a:solidFill>
                <a:latin typeface="Calibri" pitchFamily="34" charset="0"/>
                <a:ea typeface="Calibri" pitchFamily="34" charset="-122"/>
                <a:cs typeface="Calibri" pitchFamily="34" charset="-120"/>
              </a:rPr>
              <a:t>recovery time (RTO), RPO 0, 3 chaos runs</a:t>
            </a:r>
            <a:endParaRPr lang="en-US" sz="1100" dirty="0"/>
          </a:p>
        </p:txBody>
      </p:sp>
      <p:sp>
        <p:nvSpPr>
          <p:cNvPr id="13" name="Text 11"/>
          <p:cNvSpPr txBox="1"/>
          <p:nvPr/>
        </p:nvSpPr>
        <p:spPr>
          <a:xfrm>
            <a:off x="457200" y="2834640"/>
            <a:ext cx="8229600" cy="17373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Cell 2 killed with SIGKILL and its database deleted; it rebuilt from the relays.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Candidates kept answering; the blast radius (1 cell · 2 centres · 100 candidates) was shown live.</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A spare relay took over with nothing lost.</a:t>
            </a:r>
            <a:endParaRPr lang="en-US" sz="1400" dirty="0"/>
          </a:p>
        </p:txBody>
      </p:sp>
      <p:sp>
        <p:nvSpPr>
          <p:cNvPr id="14" name="Text 12"/>
          <p:cNvSpPr txBox="1"/>
          <p:nvPr/>
        </p:nvSpPr>
        <p:spPr>
          <a:xfrm>
            <a:off x="457200" y="4754880"/>
            <a:ext cx="8229600" cy="256032"/>
          </a:xfrm>
          <a:prstGeom prst="rect">
            <a:avLst/>
          </a:prstGeom>
          <a:noFill/>
          <a:ln/>
        </p:spPr>
        <p:txBody>
          <a:bodyPr wrap="square" lIns="0" tIns="0" rIns="0" bIns="0" rtlCol="0" anchor="ctr"/>
          <a:lstStyle/>
          <a:p>
            <a:pPr indent="0" marL="0">
              <a:buNone/>
            </a:pPr>
            <a:r>
              <a:rPr lang="en-US" sz="900" i="1" dirty="0">
                <a:solidFill>
                  <a:srgbClr val="9AA6BD"/>
                </a:solidFill>
                <a:latin typeface="Calibri" pitchFamily="34" charset="0"/>
                <a:ea typeface="Calibri" pitchFamily="34" charset="-122"/>
                <a:cs typeface="Calibri" pitchFamily="34" charset="-120"/>
              </a:rPr>
              <a:t>Evidence: docs/evidence/stage4-act3.txt, stage4-chaos.jsonl (8 seats × 100 entries, one Mac). Next: RPO/RTO over a real WAN.</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0" y="109728"/>
            <a:ext cx="2011680" cy="274320"/>
          </a:xfrm>
          <a:prstGeom prst="rect">
            <a:avLst/>
          </a:prstGeom>
          <a:noFill/>
          <a:ln/>
        </p:spPr>
        <p:txBody>
          <a:bodyPr wrap="square" lIns="0" tIns="0" rIns="0" bIns="0" rtlCol="0" anchor="ctr"/>
          <a:lstStyle/>
          <a:p>
            <a:pPr algn="r" indent="0" marL="0">
              <a:buNone/>
            </a:pPr>
            <a:r>
              <a:rPr lang="en-US" sz="1000" b="1" dirty="0">
                <a:solidFill>
                  <a:srgbClr val="E07A1F"/>
                </a:solidFill>
                <a:latin typeface="Calibri" pitchFamily="34" charset="0"/>
                <a:ea typeface="Calibri" pitchFamily="34" charset="-122"/>
                <a:cs typeface="Calibri" pitchFamily="34" charset="-120"/>
              </a:rPr>
              <a:t>ACT 4 · AFTER</a:t>
            </a:r>
            <a:endParaRPr lang="en-US" sz="1000" dirty="0"/>
          </a:p>
        </p:txBody>
      </p:sp>
      <p:sp>
        <p:nvSpPr>
          <p:cNvPr id="3" name="Text 1"/>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14213D"/>
                </a:solidFill>
                <a:latin typeface="Cambria" pitchFamily="34" charset="0"/>
                <a:ea typeface="Cambria" pitchFamily="34" charset="-122"/>
                <a:cs typeface="Cambria" pitchFamily="34" charset="-120"/>
              </a:rPr>
              <a:t>An insider edits an answer. We catch it.</a:t>
            </a:r>
            <a:endParaRPr lang="en-US" sz="3000" dirty="0"/>
          </a:p>
        </p:txBody>
      </p:sp>
      <p:sp>
        <p:nvSpPr>
          <p:cNvPr id="4" name="Shape 2"/>
          <p:cNvSpPr/>
          <p:nvPr/>
        </p:nvSpPr>
        <p:spPr>
          <a:xfrm>
            <a:off x="457200" y="1234440"/>
            <a:ext cx="4754880" cy="1005840"/>
          </a:xfrm>
          <a:prstGeom prst="roundRect">
            <a:avLst>
              <a:gd name="adj" fmla="val 7273"/>
            </a:avLst>
          </a:prstGeom>
          <a:solidFill>
            <a:srgbClr val="FCEBDD"/>
          </a:solidFill>
          <a:ln/>
        </p:spPr>
      </p:sp>
      <p:sp>
        <p:nvSpPr>
          <p:cNvPr id="5" name="Text 3"/>
          <p:cNvSpPr txBox="1"/>
          <p:nvPr/>
        </p:nvSpPr>
        <p:spPr>
          <a:xfrm>
            <a:off x="640080" y="1280160"/>
            <a:ext cx="4389120" cy="914400"/>
          </a:xfrm>
          <a:prstGeom prst="rect">
            <a:avLst/>
          </a:prstGeom>
          <a:noFill/>
          <a:ln/>
        </p:spPr>
        <p:txBody>
          <a:bodyPr wrap="square" lIns="0" tIns="0" rIns="0" bIns="0" rtlCol="0" anchor="ctr"/>
          <a:lstStyle/>
          <a:p>
            <a:pPr indent="0" marL="0">
              <a:buNone/>
            </a:pPr>
            <a:r>
              <a:rPr lang="en-US" sz="1600" b="1" dirty="0">
                <a:solidFill>
                  <a:srgbClr val="14213D"/>
                </a:solidFill>
                <a:latin typeface="Courier New" pitchFamily="34" charset="0"/>
                <a:ea typeface="Courier New" pitchFamily="34" charset="-122"/>
                <a:cs typeface="Courier New" pitchFamily="34" charset="-120"/>
              </a:rPr>
              <a:t>Q17: record says C, the seat committed B</a:t>
            </a:r>
            <a:endParaRPr lang="en-US" sz="1600" dirty="0"/>
          </a:p>
        </p:txBody>
      </p:sp>
      <p:sp>
        <p:nvSpPr>
          <p:cNvPr id="6" name="Text 4"/>
          <p:cNvSpPr txBox="1"/>
          <p:nvPr/>
        </p:nvSpPr>
        <p:spPr>
          <a:xfrm>
            <a:off x="457200" y="2514600"/>
            <a:ext cx="4754880" cy="20116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4213D"/>
                </a:solidFill>
                <a:latin typeface="Calibri" pitchFamily="34" charset="0"/>
                <a:ea typeface="Calibri" pitchFamily="34" charset="-122"/>
                <a:cs typeface="Calibri" pitchFamily="34" charset="-120"/>
              </a:rPr>
              <a:t>Receipt code computed on the seat at submit, like a UPI reference.</a:t>
            </a:r>
            <a:endParaRPr lang="en-US" sz="1400" dirty="0"/>
          </a:p>
          <a:p>
            <a:pPr marL="342900" indent="-342900">
              <a:spcAft>
                <a:spcPts val="800"/>
              </a:spcAft>
              <a:buSzPct val="100000"/>
              <a:buChar char="•"/>
            </a:pPr>
            <a:r>
              <a:rPr lang="en-US" sz="1400" dirty="0">
                <a:solidFill>
                  <a:srgbClr val="14213D"/>
                </a:solidFill>
                <a:latin typeface="Calibri" pitchFamily="34" charset="0"/>
                <a:ea typeface="Calibri" pitchFamily="34" charset="-122"/>
                <a:cs typeface="Calibri" pitchFamily="34" charset="-120"/>
              </a:rPr>
              <a:t>/verify is one offline 84 KB file: no network, no keys.</a:t>
            </a:r>
            <a:endParaRPr lang="en-US" sz="1400" dirty="0"/>
          </a:p>
          <a:p>
            <a:pPr marL="342900" indent="-342900">
              <a:spcAft>
                <a:spcPts val="800"/>
              </a:spcAft>
              <a:buSzPct val="100000"/>
              <a:buChar char="•"/>
            </a:pPr>
            <a:r>
              <a:rPr lang="en-US" sz="1400" dirty="0">
                <a:solidFill>
                  <a:srgbClr val="14213D"/>
                </a:solidFill>
                <a:latin typeface="Calibri" pitchFamily="34" charset="0"/>
                <a:ea typeface="Calibri" pitchFamily="34" charset="-122"/>
                <a:cs typeface="Calibri" pitchFamily="34" charset="-120"/>
              </a:rPr>
              <a:t>One-click evidence pack with a BSA s.63 certificate template.</a:t>
            </a:r>
            <a:endParaRPr lang="en-US" sz="1400" dirty="0"/>
          </a:p>
        </p:txBody>
      </p:sp>
      <p:sp>
        <p:nvSpPr>
          <p:cNvPr id="7" name="Shape 5"/>
          <p:cNvSpPr/>
          <p:nvPr/>
        </p:nvSpPr>
        <p:spPr>
          <a:xfrm>
            <a:off x="5577840" y="1234440"/>
            <a:ext cx="3108960" cy="1234440"/>
          </a:xfrm>
          <a:prstGeom prst="roundRect">
            <a:avLst>
              <a:gd name="adj" fmla="val 5926"/>
            </a:avLst>
          </a:prstGeom>
          <a:solidFill>
            <a:srgbClr val="EEF1F6"/>
          </a:solidFill>
          <a:ln/>
        </p:spPr>
      </p:sp>
      <p:sp>
        <p:nvSpPr>
          <p:cNvPr id="8" name="Text 6"/>
          <p:cNvSpPr txBox="1"/>
          <p:nvPr/>
        </p:nvSpPr>
        <p:spPr>
          <a:xfrm>
            <a:off x="5715000" y="1344168"/>
            <a:ext cx="2834640" cy="640080"/>
          </a:xfrm>
          <a:prstGeom prst="rect">
            <a:avLst/>
          </a:prstGeom>
          <a:noFill/>
          <a:ln/>
        </p:spPr>
        <p:txBody>
          <a:bodyPr wrap="square" lIns="0" tIns="0" rIns="0" bIns="0" rtlCol="0" anchor="ctr"/>
          <a:lstStyle/>
          <a:p>
            <a:pPr indent="0" marL="0">
              <a:buNone/>
            </a:pPr>
            <a:r>
              <a:rPr lang="en-US" sz="2200" b="1" dirty="0">
                <a:solidFill>
                  <a:srgbClr val="E07A1F"/>
                </a:solidFill>
                <a:latin typeface="Cambria" pitchFamily="34" charset="0"/>
                <a:ea typeface="Cambria" pitchFamily="34" charset="-122"/>
                <a:cs typeface="Cambria" pitchFamily="34" charset="-120"/>
              </a:rPr>
              <a:t>1,000 / 1,000</a:t>
            </a:r>
            <a:endParaRPr lang="en-US" sz="2200" dirty="0"/>
          </a:p>
        </p:txBody>
      </p:sp>
      <p:sp>
        <p:nvSpPr>
          <p:cNvPr id="9" name="Text 7"/>
          <p:cNvSpPr txBox="1"/>
          <p:nvPr/>
        </p:nvSpPr>
        <p:spPr>
          <a:xfrm>
            <a:off x="5715000" y="1984248"/>
            <a:ext cx="2834640" cy="411480"/>
          </a:xfrm>
          <a:prstGeom prst="rect">
            <a:avLst/>
          </a:prstGeom>
          <a:noFill/>
          <a:ln/>
        </p:spPr>
        <p:txBody>
          <a:bodyPr wrap="square" lIns="0" tIns="0" rIns="0" bIns="0" rtlCol="0" anchor="t"/>
          <a:lstStyle/>
          <a:p>
            <a:pPr indent="0" marL="0">
              <a:buNone/>
            </a:pPr>
            <a:r>
              <a:rPr lang="en-US" sz="1100" dirty="0">
                <a:solidFill>
                  <a:srgbClr val="5B6475"/>
                </a:solidFill>
                <a:latin typeface="Calibri" pitchFamily="34" charset="0"/>
                <a:ea typeface="Calibri" pitchFamily="34" charset="-122"/>
                <a:cs typeface="Calibri" pitchFamily="34" charset="-120"/>
              </a:rPr>
              <a:t>one-byte flips located at their entry</a:t>
            </a:r>
            <a:endParaRPr lang="en-US" sz="1100" dirty="0"/>
          </a:p>
        </p:txBody>
      </p:sp>
      <p:sp>
        <p:nvSpPr>
          <p:cNvPr id="10" name="Shape 8"/>
          <p:cNvSpPr/>
          <p:nvPr/>
        </p:nvSpPr>
        <p:spPr>
          <a:xfrm>
            <a:off x="5577840" y="2651760"/>
            <a:ext cx="3108960" cy="1234440"/>
          </a:xfrm>
          <a:prstGeom prst="roundRect">
            <a:avLst>
              <a:gd name="adj" fmla="val 5926"/>
            </a:avLst>
          </a:prstGeom>
          <a:solidFill>
            <a:srgbClr val="EEF1F6"/>
          </a:solidFill>
          <a:ln/>
        </p:spPr>
      </p:sp>
      <p:sp>
        <p:nvSpPr>
          <p:cNvPr id="11" name="Text 9"/>
          <p:cNvSpPr txBox="1"/>
          <p:nvPr/>
        </p:nvSpPr>
        <p:spPr>
          <a:xfrm>
            <a:off x="5715000" y="2761488"/>
            <a:ext cx="2834640" cy="640080"/>
          </a:xfrm>
          <a:prstGeom prst="rect">
            <a:avLst/>
          </a:prstGeom>
          <a:noFill/>
          <a:ln/>
        </p:spPr>
        <p:txBody>
          <a:bodyPr wrap="square" lIns="0" tIns="0" rIns="0" bIns="0" rtlCol="0" anchor="ctr"/>
          <a:lstStyle/>
          <a:p>
            <a:pPr indent="0" marL="0">
              <a:buNone/>
            </a:pPr>
            <a:r>
              <a:rPr lang="en-US" sz="3000" b="1" dirty="0">
                <a:solidFill>
                  <a:srgbClr val="E07A1F"/>
                </a:solidFill>
                <a:latin typeface="Cambria" pitchFamily="34" charset="0"/>
                <a:ea typeface="Cambria" pitchFamily="34" charset="-122"/>
                <a:cs typeface="Cambria" pitchFamily="34" charset="-120"/>
              </a:rPr>
              <a:t>30 / 30</a:t>
            </a:r>
            <a:endParaRPr lang="en-US" sz="3000" dirty="0"/>
          </a:p>
        </p:txBody>
      </p:sp>
      <p:sp>
        <p:nvSpPr>
          <p:cNvPr id="12" name="Text 10"/>
          <p:cNvSpPr txBox="1"/>
          <p:nvPr/>
        </p:nvSpPr>
        <p:spPr>
          <a:xfrm>
            <a:off x="5715000" y="3401568"/>
            <a:ext cx="2834640" cy="411480"/>
          </a:xfrm>
          <a:prstGeom prst="rect">
            <a:avLst/>
          </a:prstGeom>
          <a:noFill/>
          <a:ln/>
        </p:spPr>
        <p:txBody>
          <a:bodyPr wrap="square" lIns="0" tIns="0" rIns="0" bIns="0" rtlCol="0" anchor="t"/>
          <a:lstStyle/>
          <a:p>
            <a:pPr indent="0" marL="0">
              <a:buNone/>
            </a:pPr>
            <a:r>
              <a:rPr lang="en-US" sz="1100" dirty="0">
                <a:solidFill>
                  <a:srgbClr val="5B6475"/>
                </a:solidFill>
                <a:latin typeface="Calibri" pitchFamily="34" charset="0"/>
                <a:ea typeface="Calibri" pitchFamily="34" charset="-122"/>
                <a:cs typeface="Calibri" pitchFamily="34" charset="-120"/>
              </a:rPr>
              <a:t>golden-vector self-checks on every /verify load</a:t>
            </a:r>
            <a:endParaRPr lang="en-US" sz="1100" dirty="0"/>
          </a:p>
        </p:txBody>
      </p:sp>
      <p:sp>
        <p:nvSpPr>
          <p:cNvPr id="13" name="Text 11"/>
          <p:cNvSpPr txBox="1"/>
          <p:nvPr/>
        </p:nvSpPr>
        <p:spPr>
          <a:xfrm>
            <a:off x="457200" y="4754880"/>
            <a:ext cx="8229600" cy="256032"/>
          </a:xfrm>
          <a:prstGeom prst="rect">
            <a:avLst/>
          </a:prstGeom>
          <a:noFill/>
          <a:ln/>
        </p:spPr>
        <p:txBody>
          <a:bodyPr wrap="square" lIns="0" tIns="0" rIns="0" bIns="0" rtlCol="0" anchor="ctr"/>
          <a:lstStyle/>
          <a:p>
            <a:pPr indent="0" marL="0">
              <a:buNone/>
            </a:pPr>
            <a:r>
              <a:rPr lang="en-US" sz="900" i="1" dirty="0">
                <a:solidFill>
                  <a:srgbClr val="5B6475"/>
                </a:solidFill>
                <a:latin typeface="Calibri" pitchFamily="34" charset="0"/>
                <a:ea typeface="Calibri" pitchFamily="34" charset="-122"/>
                <a:cs typeface="Calibri" pitchFamily="34" charset="-120"/>
              </a:rPr>
              <a:t>Evidence: claims-ledger T1, T5, T9–T11, T14. Admissibility is not claimed; s.63 file is a template.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6675120" y="109728"/>
            <a:ext cx="2011680" cy="274320"/>
          </a:xfrm>
          <a:prstGeom prst="rect">
            <a:avLst/>
          </a:prstGeom>
          <a:noFill/>
          <a:ln/>
        </p:spPr>
        <p:txBody>
          <a:bodyPr wrap="square" lIns="0" tIns="0" rIns="0" bIns="0" rtlCol="0" anchor="ctr"/>
          <a:lstStyle/>
          <a:p>
            <a:pPr algn="r" indent="0" marL="0">
              <a:buNone/>
            </a:pPr>
            <a:r>
              <a:rPr lang="en-US" sz="1000" b="1" dirty="0">
                <a:solidFill>
                  <a:srgbClr val="E07A1F"/>
                </a:solidFill>
                <a:latin typeface="Calibri" pitchFamily="34" charset="0"/>
                <a:ea typeface="Calibri" pitchFamily="34" charset="-122"/>
                <a:cs typeface="Calibri" pitchFamily="34" charset="-120"/>
              </a:rPr>
              <a:t>ACT 5 · DECIDE</a:t>
            </a:r>
            <a:endParaRPr lang="en-US" sz="1000" dirty="0"/>
          </a:p>
        </p:txBody>
      </p:sp>
      <p:sp>
        <p:nvSpPr>
          <p:cNvPr id="3" name="Text 1"/>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Only the harmed are re-tested</a:t>
            </a:r>
            <a:endParaRPr lang="en-US" sz="3000" dirty="0"/>
          </a:p>
        </p:txBody>
      </p:sp>
      <p:sp>
        <p:nvSpPr>
          <p:cNvPr id="4" name="Text 2"/>
          <p:cNvSpPr txBox="1"/>
          <p:nvPr/>
        </p:nvSpPr>
        <p:spPr>
          <a:xfrm>
            <a:off x="457200" y="1143000"/>
            <a:ext cx="8229600" cy="731520"/>
          </a:xfrm>
          <a:prstGeom prst="rect">
            <a:avLst/>
          </a:prstGeom>
          <a:noFill/>
          <a:ln/>
        </p:spPr>
        <p:txBody>
          <a:bodyPr wrap="square" lIns="0" tIns="0" rIns="0" bIns="0" rtlCol="0" anchor="ctr"/>
          <a:lstStyle/>
          <a:p>
            <a:pPr indent="0" marL="0">
              <a:buNone/>
            </a:pPr>
            <a:r>
              <a:rPr lang="en-US" sz="2000" b="1" dirty="0">
                <a:solidFill>
                  <a:srgbClr val="E07A1F"/>
                </a:solidFill>
                <a:latin typeface="Cambria" pitchFamily="34" charset="0"/>
                <a:ea typeface="Cambria" pitchFamily="34" charset="-122"/>
                <a:cs typeface="Cambria" pitchFamily="34" charset="-120"/>
              </a:rPr>
              <a:t>Re-tested 225 · Re-conducted 3 centres · Spared 18,994 · ₹ avoided 2,84,91,000</a:t>
            </a:r>
            <a:endParaRPr lang="en-US" sz="2000" dirty="0"/>
          </a:p>
        </p:txBody>
      </p:sp>
      <p:sp>
        <p:nvSpPr>
          <p:cNvPr id="5" name="Shape 3"/>
          <p:cNvSpPr/>
          <p:nvPr/>
        </p:nvSpPr>
        <p:spPr>
          <a:xfrm>
            <a:off x="457200" y="2057400"/>
            <a:ext cx="1920240" cy="1234440"/>
          </a:xfrm>
          <a:prstGeom prst="roundRect">
            <a:avLst>
              <a:gd name="adj" fmla="val 5926"/>
            </a:avLst>
          </a:prstGeom>
          <a:solidFill>
            <a:srgbClr val="1F2F55"/>
          </a:solidFill>
          <a:ln/>
        </p:spPr>
      </p:sp>
      <p:sp>
        <p:nvSpPr>
          <p:cNvPr id="6" name="Text 4"/>
          <p:cNvSpPr txBox="1"/>
          <p:nvPr/>
        </p:nvSpPr>
        <p:spPr>
          <a:xfrm>
            <a:off x="594360" y="2167128"/>
            <a:ext cx="1645920" cy="640080"/>
          </a:xfrm>
          <a:prstGeom prst="rect">
            <a:avLst/>
          </a:prstGeom>
          <a:noFill/>
          <a:ln/>
        </p:spPr>
        <p:txBody>
          <a:bodyPr wrap="square" lIns="0" tIns="0" rIns="0" bIns="0" rtlCol="0" anchor="ctr"/>
          <a:lstStyle/>
          <a:p>
            <a:pPr indent="0" marL="0">
              <a:buNone/>
            </a:pPr>
            <a:r>
              <a:rPr lang="en-US" sz="3000" b="1" dirty="0">
                <a:solidFill>
                  <a:srgbClr val="E07A1F"/>
                </a:solidFill>
                <a:latin typeface="Cambria" pitchFamily="34" charset="0"/>
                <a:ea typeface="Cambria" pitchFamily="34" charset="-122"/>
                <a:cs typeface="Cambria" pitchFamily="34" charset="-120"/>
              </a:rPr>
              <a:t>19,811</a:t>
            </a:r>
            <a:endParaRPr lang="en-US" sz="3000" dirty="0"/>
          </a:p>
        </p:txBody>
      </p:sp>
      <p:sp>
        <p:nvSpPr>
          <p:cNvPr id="7" name="Text 5"/>
          <p:cNvSpPr txBox="1"/>
          <p:nvPr/>
        </p:nvSpPr>
        <p:spPr>
          <a:xfrm>
            <a:off x="594360" y="2807208"/>
            <a:ext cx="1645920" cy="411480"/>
          </a:xfrm>
          <a:prstGeom prst="rect">
            <a:avLst/>
          </a:prstGeom>
          <a:noFill/>
          <a:ln/>
        </p:spPr>
        <p:txBody>
          <a:bodyPr wrap="square" lIns="0" tIns="0" rIns="0" bIns="0" rtlCol="0" anchor="t"/>
          <a:lstStyle/>
          <a:p>
            <a:pPr indent="0" marL="0">
              <a:buNone/>
            </a:pPr>
            <a:r>
              <a:rPr lang="en-US" sz="1100" dirty="0">
                <a:solidFill>
                  <a:srgbClr val="C9D2E3"/>
                </a:solidFill>
                <a:latin typeface="Calibri" pitchFamily="34" charset="0"/>
                <a:ea typeface="Calibri" pitchFamily="34" charset="-122"/>
                <a:cs typeface="Calibri" pitchFamily="34" charset="-120"/>
              </a:rPr>
              <a:t>live candidates, 20k run</a:t>
            </a:r>
            <a:endParaRPr lang="en-US" sz="1100" dirty="0"/>
          </a:p>
        </p:txBody>
      </p:sp>
      <p:sp>
        <p:nvSpPr>
          <p:cNvPr id="8" name="Shape 6"/>
          <p:cNvSpPr/>
          <p:nvPr/>
        </p:nvSpPr>
        <p:spPr>
          <a:xfrm>
            <a:off x="2560320" y="2057400"/>
            <a:ext cx="1920240" cy="1234440"/>
          </a:xfrm>
          <a:prstGeom prst="roundRect">
            <a:avLst>
              <a:gd name="adj" fmla="val 5926"/>
            </a:avLst>
          </a:prstGeom>
          <a:solidFill>
            <a:srgbClr val="1F2F55"/>
          </a:solidFill>
          <a:ln/>
        </p:spPr>
      </p:sp>
      <p:sp>
        <p:nvSpPr>
          <p:cNvPr id="9" name="Text 7"/>
          <p:cNvSpPr txBox="1"/>
          <p:nvPr/>
        </p:nvSpPr>
        <p:spPr>
          <a:xfrm>
            <a:off x="2697480" y="2167128"/>
            <a:ext cx="1645920" cy="640080"/>
          </a:xfrm>
          <a:prstGeom prst="rect">
            <a:avLst/>
          </a:prstGeom>
          <a:noFill/>
          <a:ln/>
        </p:spPr>
        <p:txBody>
          <a:bodyPr wrap="square" lIns="0" tIns="0" rIns="0" bIns="0" rtlCol="0" anchor="ctr"/>
          <a:lstStyle/>
          <a:p>
            <a:pPr indent="0" marL="0">
              <a:buNone/>
            </a:pPr>
            <a:r>
              <a:rPr lang="en-US" sz="2200" b="1" dirty="0">
                <a:solidFill>
                  <a:srgbClr val="E07A1F"/>
                </a:solidFill>
                <a:latin typeface="Cambria" pitchFamily="34" charset="0"/>
                <a:ea typeface="Cambria" pitchFamily="34" charset="-122"/>
                <a:cs typeface="Cambria" pitchFamily="34" charset="-120"/>
              </a:rPr>
              <a:t>1,981,100</a:t>
            </a:r>
            <a:endParaRPr lang="en-US" sz="2200" dirty="0"/>
          </a:p>
        </p:txBody>
      </p:sp>
      <p:sp>
        <p:nvSpPr>
          <p:cNvPr id="10" name="Text 8"/>
          <p:cNvSpPr txBox="1"/>
          <p:nvPr/>
        </p:nvSpPr>
        <p:spPr>
          <a:xfrm>
            <a:off x="2697480" y="2807208"/>
            <a:ext cx="1645920" cy="411480"/>
          </a:xfrm>
          <a:prstGeom prst="rect">
            <a:avLst/>
          </a:prstGeom>
          <a:noFill/>
          <a:ln/>
        </p:spPr>
        <p:txBody>
          <a:bodyPr wrap="square" lIns="0" tIns="0" rIns="0" bIns="0" rtlCol="0" anchor="t"/>
          <a:lstStyle/>
          <a:p>
            <a:pPr indent="0" marL="0">
              <a:buNone/>
            </a:pPr>
            <a:r>
              <a:rPr lang="en-US" sz="1100" dirty="0">
                <a:solidFill>
                  <a:srgbClr val="C9D2E3"/>
                </a:solidFill>
                <a:latin typeface="Calibri" pitchFamily="34" charset="0"/>
                <a:ea typeface="Calibri" pitchFamily="34" charset="-122"/>
                <a:cs typeface="Calibri" pitchFamily="34" charset="-120"/>
              </a:rPr>
              <a:t>export rows analysed</a:t>
            </a:r>
            <a:endParaRPr lang="en-US" sz="1100" dirty="0"/>
          </a:p>
        </p:txBody>
      </p:sp>
      <p:sp>
        <p:nvSpPr>
          <p:cNvPr id="11" name="Shape 9"/>
          <p:cNvSpPr/>
          <p:nvPr/>
        </p:nvSpPr>
        <p:spPr>
          <a:xfrm>
            <a:off x="4663440" y="2057400"/>
            <a:ext cx="1920240" cy="1234440"/>
          </a:xfrm>
          <a:prstGeom prst="roundRect">
            <a:avLst>
              <a:gd name="adj" fmla="val 5926"/>
            </a:avLst>
          </a:prstGeom>
          <a:solidFill>
            <a:srgbClr val="1F2F55"/>
          </a:solidFill>
          <a:ln/>
        </p:spPr>
      </p:sp>
      <p:sp>
        <p:nvSpPr>
          <p:cNvPr id="12" name="Text 10"/>
          <p:cNvSpPr txBox="1"/>
          <p:nvPr/>
        </p:nvSpPr>
        <p:spPr>
          <a:xfrm>
            <a:off x="4800600" y="2167128"/>
            <a:ext cx="1645920" cy="640080"/>
          </a:xfrm>
          <a:prstGeom prst="rect">
            <a:avLst/>
          </a:prstGeom>
          <a:noFill/>
          <a:ln/>
        </p:spPr>
        <p:txBody>
          <a:bodyPr wrap="square" lIns="0" tIns="0" rIns="0" bIns="0" rtlCol="0" anchor="ctr"/>
          <a:lstStyle/>
          <a:p>
            <a:pPr indent="0" marL="0">
              <a:buNone/>
            </a:pPr>
            <a:r>
              <a:rPr lang="en-US" sz="3000" b="1" dirty="0">
                <a:solidFill>
                  <a:srgbClr val="E07A1F"/>
                </a:solidFill>
                <a:latin typeface="Cambria" pitchFamily="34" charset="0"/>
                <a:ea typeface="Cambria" pitchFamily="34" charset="-122"/>
                <a:cs typeface="Cambria" pitchFamily="34" charset="-120"/>
              </a:rPr>
              <a:t>322</a:t>
            </a:r>
            <a:endParaRPr lang="en-US" sz="3000" dirty="0"/>
          </a:p>
        </p:txBody>
      </p:sp>
      <p:sp>
        <p:nvSpPr>
          <p:cNvPr id="13" name="Text 11"/>
          <p:cNvSpPr txBox="1"/>
          <p:nvPr/>
        </p:nvSpPr>
        <p:spPr>
          <a:xfrm>
            <a:off x="4800600" y="2807208"/>
            <a:ext cx="1645920" cy="411480"/>
          </a:xfrm>
          <a:prstGeom prst="rect">
            <a:avLst/>
          </a:prstGeom>
          <a:noFill/>
          <a:ln/>
        </p:spPr>
        <p:txBody>
          <a:bodyPr wrap="square" lIns="0" tIns="0" rIns="0" bIns="0" rtlCol="0" anchor="t"/>
          <a:lstStyle/>
          <a:p>
            <a:pPr indent="0" marL="0">
              <a:buNone/>
            </a:pPr>
            <a:r>
              <a:rPr lang="en-US" sz="1100" dirty="0">
                <a:solidFill>
                  <a:srgbClr val="C9D2E3"/>
                </a:solidFill>
                <a:latin typeface="Calibri" pitchFamily="34" charset="0"/>
                <a:ea typeface="Calibri" pitchFamily="34" charset="-122"/>
                <a:cs typeface="Calibri" pitchFamily="34" charset="-120"/>
              </a:rPr>
              <a:t>flags, each explained</a:t>
            </a:r>
            <a:endParaRPr lang="en-US" sz="1100" dirty="0"/>
          </a:p>
        </p:txBody>
      </p:sp>
      <p:sp>
        <p:nvSpPr>
          <p:cNvPr id="14" name="Shape 12"/>
          <p:cNvSpPr/>
          <p:nvPr/>
        </p:nvSpPr>
        <p:spPr>
          <a:xfrm>
            <a:off x="6766560" y="2057400"/>
            <a:ext cx="1920240" cy="1234440"/>
          </a:xfrm>
          <a:prstGeom prst="roundRect">
            <a:avLst>
              <a:gd name="adj" fmla="val 5926"/>
            </a:avLst>
          </a:prstGeom>
          <a:solidFill>
            <a:srgbClr val="1F2F55"/>
          </a:solidFill>
          <a:ln/>
        </p:spPr>
      </p:sp>
      <p:sp>
        <p:nvSpPr>
          <p:cNvPr id="15" name="Text 13"/>
          <p:cNvSpPr txBox="1"/>
          <p:nvPr/>
        </p:nvSpPr>
        <p:spPr>
          <a:xfrm>
            <a:off x="6903720" y="2167128"/>
            <a:ext cx="1645920" cy="640080"/>
          </a:xfrm>
          <a:prstGeom prst="rect">
            <a:avLst/>
          </a:prstGeom>
          <a:noFill/>
          <a:ln/>
        </p:spPr>
        <p:txBody>
          <a:bodyPr wrap="square" lIns="0" tIns="0" rIns="0" bIns="0" rtlCol="0" anchor="ctr"/>
          <a:lstStyle/>
          <a:p>
            <a:pPr indent="0" marL="0">
              <a:buNone/>
            </a:pPr>
            <a:r>
              <a:rPr lang="en-US" sz="3000" b="1" dirty="0">
                <a:solidFill>
                  <a:srgbClr val="E07A1F"/>
                </a:solidFill>
                <a:latin typeface="Cambria" pitchFamily="34" charset="0"/>
                <a:ea typeface="Cambria" pitchFamily="34" charset="-122"/>
                <a:cs typeface="Cambria" pitchFamily="34" charset="-120"/>
              </a:rPr>
              <a:t>0.00%</a:t>
            </a:r>
            <a:endParaRPr lang="en-US" sz="3000" dirty="0"/>
          </a:p>
        </p:txBody>
      </p:sp>
      <p:sp>
        <p:nvSpPr>
          <p:cNvPr id="16" name="Text 14"/>
          <p:cNvSpPr txBox="1"/>
          <p:nvPr/>
        </p:nvSpPr>
        <p:spPr>
          <a:xfrm>
            <a:off x="6903720" y="2807208"/>
            <a:ext cx="1645920" cy="411480"/>
          </a:xfrm>
          <a:prstGeom prst="rect">
            <a:avLst/>
          </a:prstGeom>
          <a:noFill/>
          <a:ln/>
        </p:spPr>
        <p:txBody>
          <a:bodyPr wrap="square" lIns="0" tIns="0" rIns="0" bIns="0" rtlCol="0" anchor="t"/>
          <a:lstStyle/>
          <a:p>
            <a:pPr indent="0" marL="0">
              <a:buNone/>
            </a:pPr>
            <a:r>
              <a:rPr lang="en-US" sz="1100" dirty="0">
                <a:solidFill>
                  <a:srgbClr val="C9D2E3"/>
                </a:solidFill>
                <a:latin typeface="Calibri" pitchFamily="34" charset="0"/>
                <a:ea typeface="Calibri" pitchFamily="34" charset="-122"/>
                <a:cs typeface="Calibri" pitchFamily="34" charset="-120"/>
              </a:rPr>
              <a:t>honest false-positive rate (G2)</a:t>
            </a:r>
            <a:endParaRPr lang="en-US" sz="1100" dirty="0"/>
          </a:p>
        </p:txBody>
      </p:sp>
      <p:sp>
        <p:nvSpPr>
          <p:cNvPr id="17" name="Text 15"/>
          <p:cNvSpPr txBox="1"/>
          <p:nvPr/>
        </p:nvSpPr>
        <p:spPr>
          <a:xfrm>
            <a:off x="457200" y="3520440"/>
            <a:ext cx="8229600" cy="109728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Radar runs on what actually flowed through the cells; the decision applies the NEET-2024 Supreme Court tier-1 test.</a:t>
            </a:r>
            <a:endParaRPr lang="en-US" sz="1300" dirty="0"/>
          </a:p>
          <a:p>
            <a:pPr marL="342900" indent="-3429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A named human signs the report hash. The signature records approval, it does not make the report correct.</a:t>
            </a:r>
            <a:endParaRPr lang="en-US" sz="1300" dirty="0"/>
          </a:p>
        </p:txBody>
      </p:sp>
      <p:sp>
        <p:nvSpPr>
          <p:cNvPr id="18" name="Text 16"/>
          <p:cNvSpPr txBox="1"/>
          <p:nvPr/>
        </p:nvSpPr>
        <p:spPr>
          <a:xfrm>
            <a:off x="457200" y="4754880"/>
            <a:ext cx="8229600" cy="256032"/>
          </a:xfrm>
          <a:prstGeom prst="rect">
            <a:avLst/>
          </a:prstGeom>
          <a:noFill/>
          <a:ln/>
        </p:spPr>
        <p:txBody>
          <a:bodyPr wrap="square" lIns="0" tIns="0" rIns="0" bIns="0" rtlCol="0" anchor="ctr"/>
          <a:lstStyle/>
          <a:p>
            <a:pPr indent="0" marL="0">
              <a:buNone/>
            </a:pPr>
            <a:r>
              <a:rPr lang="en-US" sz="900" i="1" dirty="0">
                <a:solidFill>
                  <a:srgbClr val="9AA6BD"/>
                </a:solidFill>
                <a:latin typeface="Calibri" pitchFamily="34" charset="0"/>
                <a:ea typeface="Calibri" pitchFamily="34" charset="-122"/>
                <a:cs typeface="Calibri" pitchFamily="34" charset="-120"/>
              </a:rPr>
              <a:t>Evidence: docs/evidence/stage6-act5-full.txt; ledger D1–D2, D7, D9, D18. Synthetic cohorts; ₹1,500/candidate is an illustrative policy value.</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14213D"/>
                </a:solidFill>
                <a:latin typeface="Cambria" pitchFamily="34" charset="0"/>
                <a:ea typeface="Cambria" pitchFamily="34" charset="-122"/>
                <a:cs typeface="Cambria" pitchFamily="34" charset="-120"/>
              </a:rPr>
              <a:t>History corroborates. It never accuses.</a:t>
            </a:r>
            <a:endParaRPr lang="en-US" sz="3000" dirty="0"/>
          </a:p>
        </p:txBody>
      </p:sp>
      <p:sp>
        <p:nvSpPr>
          <p:cNvPr id="3" name="Shape 1"/>
          <p:cNvSpPr/>
          <p:nvPr/>
        </p:nvSpPr>
        <p:spPr>
          <a:xfrm>
            <a:off x="457200" y="1234440"/>
            <a:ext cx="3931920" cy="1417320"/>
          </a:xfrm>
          <a:prstGeom prst="roundRect">
            <a:avLst>
              <a:gd name="adj" fmla="val 5161"/>
            </a:avLst>
          </a:prstGeom>
          <a:solidFill>
            <a:srgbClr val="EEF1F6"/>
          </a:solidFill>
          <a:ln/>
        </p:spPr>
      </p:sp>
      <p:sp>
        <p:nvSpPr>
          <p:cNvPr id="4" name="Text 2"/>
          <p:cNvSpPr txBox="1"/>
          <p:nvPr/>
        </p:nvSpPr>
        <p:spPr>
          <a:xfrm>
            <a:off x="640080" y="1344168"/>
            <a:ext cx="3566160" cy="365760"/>
          </a:xfrm>
          <a:prstGeom prst="rect">
            <a:avLst/>
          </a:prstGeom>
          <a:noFill/>
          <a:ln/>
        </p:spPr>
        <p:txBody>
          <a:bodyPr wrap="square" lIns="0" tIns="0" rIns="0" bIns="0" rtlCol="0" anchor="ctr"/>
          <a:lstStyle/>
          <a:p>
            <a:pPr indent="0" marL="0">
              <a:buNone/>
            </a:pPr>
            <a:r>
              <a:rPr lang="en-US" sz="1600" b="1" dirty="0">
                <a:solidFill>
                  <a:srgbClr val="14213D"/>
                </a:solidFill>
                <a:latin typeface="Cambria" pitchFamily="34" charset="0"/>
                <a:ea typeface="Cambria" pitchFamily="34" charset="-122"/>
                <a:cs typeface="Cambria" pitchFamily="34" charset="-120"/>
              </a:rPr>
              <a:t>Flags come from the exam</a:t>
            </a:r>
            <a:endParaRPr lang="en-US" sz="1600" dirty="0"/>
          </a:p>
        </p:txBody>
      </p:sp>
      <p:sp>
        <p:nvSpPr>
          <p:cNvPr id="5" name="Text 3"/>
          <p:cNvSpPr txBox="1"/>
          <p:nvPr/>
        </p:nvSpPr>
        <p:spPr>
          <a:xfrm>
            <a:off x="640080" y="1737360"/>
            <a:ext cx="3566160" cy="822960"/>
          </a:xfrm>
          <a:prstGeom prst="rect">
            <a:avLst/>
          </a:prstGeom>
          <a:noFill/>
          <a:ln/>
        </p:spPr>
        <p:txBody>
          <a:bodyPr wrap="square" lIns="0" tIns="0" rIns="0" bIns="0" rtlCol="0" anchor="t"/>
          <a:lstStyle/>
          <a:p>
            <a:pPr indent="0" marL="0">
              <a:buNone/>
            </a:pPr>
            <a:r>
              <a:rPr lang="en-US" sz="1300" dirty="0">
                <a:solidFill>
                  <a:srgbClr val="5B6475"/>
                </a:solidFill>
                <a:latin typeface="Calibri" pitchFamily="34" charset="0"/>
                <a:ea typeface="Calibri" pitchFamily="34" charset="-122"/>
                <a:cs typeface="Calibri" pitchFamily="34" charset="-120"/>
              </a:rPr>
              <a:t>Every flag shows its reason, observed vs expected, and a p-value.</a:t>
            </a:r>
            <a:endParaRPr lang="en-US" sz="1300" dirty="0"/>
          </a:p>
        </p:txBody>
      </p:sp>
      <p:sp>
        <p:nvSpPr>
          <p:cNvPr id="6" name="Shape 4"/>
          <p:cNvSpPr/>
          <p:nvPr/>
        </p:nvSpPr>
        <p:spPr>
          <a:xfrm>
            <a:off x="4663440" y="1234440"/>
            <a:ext cx="3931920" cy="1417320"/>
          </a:xfrm>
          <a:prstGeom prst="roundRect">
            <a:avLst>
              <a:gd name="adj" fmla="val 5161"/>
            </a:avLst>
          </a:prstGeom>
          <a:solidFill>
            <a:srgbClr val="EEF1F6"/>
          </a:solidFill>
          <a:ln/>
        </p:spPr>
      </p:sp>
      <p:sp>
        <p:nvSpPr>
          <p:cNvPr id="7" name="Text 5"/>
          <p:cNvSpPr txBox="1"/>
          <p:nvPr/>
        </p:nvSpPr>
        <p:spPr>
          <a:xfrm>
            <a:off x="4846320" y="1344168"/>
            <a:ext cx="3566160" cy="365760"/>
          </a:xfrm>
          <a:prstGeom prst="rect">
            <a:avLst/>
          </a:prstGeom>
          <a:noFill/>
          <a:ln/>
        </p:spPr>
        <p:txBody>
          <a:bodyPr wrap="square" lIns="0" tIns="0" rIns="0" bIns="0" rtlCol="0" anchor="ctr"/>
          <a:lstStyle/>
          <a:p>
            <a:pPr indent="0" marL="0">
              <a:buNone/>
            </a:pPr>
            <a:r>
              <a:rPr lang="en-US" sz="1600" b="1" dirty="0">
                <a:solidFill>
                  <a:srgbClr val="14213D"/>
                </a:solidFill>
                <a:latin typeface="Cambria" pitchFamily="34" charset="0"/>
                <a:ea typeface="Cambria" pitchFamily="34" charset="-122"/>
                <a:cs typeface="Cambria" pitchFamily="34" charset="-120"/>
              </a:rPr>
              <a:t>History only annotates</a:t>
            </a:r>
            <a:endParaRPr lang="en-US" sz="1600" dirty="0"/>
          </a:p>
        </p:txBody>
      </p:sp>
      <p:sp>
        <p:nvSpPr>
          <p:cNvPr id="8" name="Text 6"/>
          <p:cNvSpPr txBox="1"/>
          <p:nvPr/>
        </p:nvSpPr>
        <p:spPr>
          <a:xfrm>
            <a:off x="4846320" y="1737360"/>
            <a:ext cx="3566160" cy="822960"/>
          </a:xfrm>
          <a:prstGeom prst="rect">
            <a:avLst/>
          </a:prstGeom>
          <a:noFill/>
          <a:ln/>
        </p:spPr>
        <p:txBody>
          <a:bodyPr wrap="square" lIns="0" tIns="0" rIns="0" bIns="0" rtlCol="0" anchor="t"/>
          <a:lstStyle/>
          <a:p>
            <a:pPr indent="0" marL="0">
              <a:buNone/>
            </a:pPr>
            <a:r>
              <a:rPr lang="en-US" sz="1300" dirty="0">
                <a:solidFill>
                  <a:srgbClr val="5B6475"/>
                </a:solidFill>
                <a:latin typeface="Calibri" pitchFamily="34" charset="0"/>
                <a:ea typeface="Calibri" pitchFamily="34" charset="-122"/>
                <a:cs typeface="Calibri" pitchFamily="34" charset="-120"/>
              </a:rPr>
              <a:t>Past performance annotates flags already queued, never creates or escalates one (322 annotated, 55 corroborated).</a:t>
            </a:r>
            <a:endParaRPr lang="en-US" sz="1300" dirty="0"/>
          </a:p>
        </p:txBody>
      </p:sp>
      <p:sp>
        <p:nvSpPr>
          <p:cNvPr id="9" name="Shape 7"/>
          <p:cNvSpPr/>
          <p:nvPr/>
        </p:nvSpPr>
        <p:spPr>
          <a:xfrm>
            <a:off x="457200" y="2880360"/>
            <a:ext cx="3931920" cy="1417320"/>
          </a:xfrm>
          <a:prstGeom prst="roundRect">
            <a:avLst>
              <a:gd name="adj" fmla="val 5161"/>
            </a:avLst>
          </a:prstGeom>
          <a:solidFill>
            <a:srgbClr val="EEF1F6"/>
          </a:solidFill>
          <a:ln/>
        </p:spPr>
      </p:sp>
      <p:sp>
        <p:nvSpPr>
          <p:cNvPr id="10" name="Text 8"/>
          <p:cNvSpPr txBox="1"/>
          <p:nvPr/>
        </p:nvSpPr>
        <p:spPr>
          <a:xfrm>
            <a:off x="640080" y="2990088"/>
            <a:ext cx="3566160" cy="365760"/>
          </a:xfrm>
          <a:prstGeom prst="rect">
            <a:avLst/>
          </a:prstGeom>
          <a:noFill/>
          <a:ln/>
        </p:spPr>
        <p:txBody>
          <a:bodyPr wrap="square" lIns="0" tIns="0" rIns="0" bIns="0" rtlCol="0" anchor="ctr"/>
          <a:lstStyle/>
          <a:p>
            <a:pPr indent="0" marL="0">
              <a:buNone/>
            </a:pPr>
            <a:r>
              <a:rPr lang="en-US" sz="1600" b="1" dirty="0">
                <a:solidFill>
                  <a:srgbClr val="14213D"/>
                </a:solidFill>
                <a:latin typeface="Cambria" pitchFamily="34" charset="0"/>
                <a:ea typeface="Cambria" pitchFamily="34" charset="-122"/>
                <a:cs typeface="Cambria" pitchFamily="34" charset="-120"/>
              </a:rPr>
              <a:t>Look-alikes protected</a:t>
            </a:r>
            <a:endParaRPr lang="en-US" sz="1600" dirty="0"/>
          </a:p>
        </p:txBody>
      </p:sp>
      <p:sp>
        <p:nvSpPr>
          <p:cNvPr id="11" name="Text 9"/>
          <p:cNvSpPr txBox="1"/>
          <p:nvPr/>
        </p:nvSpPr>
        <p:spPr>
          <a:xfrm>
            <a:off x="640080" y="3383280"/>
            <a:ext cx="3566160" cy="822960"/>
          </a:xfrm>
          <a:prstGeom prst="rect">
            <a:avLst/>
          </a:prstGeom>
          <a:noFill/>
          <a:ln/>
        </p:spPr>
        <p:txBody>
          <a:bodyPr wrap="square" lIns="0" tIns="0" rIns="0" bIns="0" rtlCol="0" anchor="t"/>
          <a:lstStyle/>
          <a:p>
            <a:pPr indent="0" marL="0">
              <a:buNone/>
            </a:pPr>
            <a:r>
              <a:rPr lang="en-US" sz="1300" dirty="0">
                <a:solidFill>
                  <a:srgbClr val="5B6475"/>
                </a:solidFill>
                <a:latin typeface="Calibri" pitchFamily="34" charset="0"/>
                <a:ea typeface="Calibri" pitchFamily="34" charset="-122"/>
                <a:cs typeface="Calibri" pitchFamily="34" charset="-120"/>
              </a:rPr>
              <a:t>Hindi-medium, PwD, rapid guessers and improvers are not flagged.</a:t>
            </a:r>
            <a:endParaRPr lang="en-US" sz="1300" dirty="0"/>
          </a:p>
        </p:txBody>
      </p:sp>
      <p:sp>
        <p:nvSpPr>
          <p:cNvPr id="12" name="Shape 10"/>
          <p:cNvSpPr/>
          <p:nvPr/>
        </p:nvSpPr>
        <p:spPr>
          <a:xfrm>
            <a:off x="4663440" y="2880360"/>
            <a:ext cx="3931920" cy="1417320"/>
          </a:xfrm>
          <a:prstGeom prst="roundRect">
            <a:avLst>
              <a:gd name="adj" fmla="val 5161"/>
            </a:avLst>
          </a:prstGeom>
          <a:solidFill>
            <a:srgbClr val="EEF1F6"/>
          </a:solidFill>
          <a:ln/>
        </p:spPr>
      </p:sp>
      <p:sp>
        <p:nvSpPr>
          <p:cNvPr id="13" name="Text 11"/>
          <p:cNvSpPr txBox="1"/>
          <p:nvPr/>
        </p:nvSpPr>
        <p:spPr>
          <a:xfrm>
            <a:off x="4846320" y="2990088"/>
            <a:ext cx="3566160" cy="365760"/>
          </a:xfrm>
          <a:prstGeom prst="rect">
            <a:avLst/>
          </a:prstGeom>
          <a:noFill/>
          <a:ln/>
        </p:spPr>
        <p:txBody>
          <a:bodyPr wrap="square" lIns="0" tIns="0" rIns="0" bIns="0" rtlCol="0" anchor="ctr"/>
          <a:lstStyle/>
          <a:p>
            <a:pPr indent="0" marL="0">
              <a:buNone/>
            </a:pPr>
            <a:r>
              <a:rPr lang="en-US" sz="1600" b="1" dirty="0">
                <a:solidFill>
                  <a:srgbClr val="14213D"/>
                </a:solidFill>
                <a:latin typeface="Cambria" pitchFamily="34" charset="0"/>
                <a:ea typeface="Cambria" pitchFamily="34" charset="-122"/>
                <a:cs typeface="Cambria" pitchFamily="34" charset="-120"/>
              </a:rPr>
              <a:t>Nothing auto-penalised</a:t>
            </a:r>
            <a:endParaRPr lang="en-US" sz="1600" dirty="0"/>
          </a:p>
        </p:txBody>
      </p:sp>
      <p:sp>
        <p:nvSpPr>
          <p:cNvPr id="14" name="Text 12"/>
          <p:cNvSpPr txBox="1"/>
          <p:nvPr/>
        </p:nvSpPr>
        <p:spPr>
          <a:xfrm>
            <a:off x="4846320" y="3383280"/>
            <a:ext cx="3566160" cy="822960"/>
          </a:xfrm>
          <a:prstGeom prst="rect">
            <a:avLst/>
          </a:prstGeom>
          <a:noFill/>
          <a:ln/>
        </p:spPr>
        <p:txBody>
          <a:bodyPr wrap="square" lIns="0" tIns="0" rIns="0" bIns="0" rtlCol="0" anchor="t"/>
          <a:lstStyle/>
          <a:p>
            <a:pPr indent="0" marL="0">
              <a:buNone/>
            </a:pPr>
            <a:r>
              <a:rPr lang="en-US" sz="1300" dirty="0">
                <a:solidFill>
                  <a:srgbClr val="5B6475"/>
                </a:solidFill>
                <a:latin typeface="Calibri" pitchFamily="34" charset="0"/>
                <a:ea typeface="Calibri" pitchFamily="34" charset="-122"/>
                <a:cs typeface="Calibri" pitchFamily="34" charset="-120"/>
              </a:rPr>
              <a:t>A human decides; time is credited by the relay clock, capped at 30 min.</a:t>
            </a:r>
            <a:endParaRPr lang="en-US" sz="1300" dirty="0"/>
          </a:p>
        </p:txBody>
      </p:sp>
      <p:sp>
        <p:nvSpPr>
          <p:cNvPr id="15" name="Text 13"/>
          <p:cNvSpPr txBox="1"/>
          <p:nvPr/>
        </p:nvSpPr>
        <p:spPr>
          <a:xfrm>
            <a:off x="457200" y="4754880"/>
            <a:ext cx="8229600" cy="256032"/>
          </a:xfrm>
          <a:prstGeom prst="rect">
            <a:avLst/>
          </a:prstGeom>
          <a:noFill/>
          <a:ln/>
        </p:spPr>
        <p:txBody>
          <a:bodyPr wrap="square" lIns="0" tIns="0" rIns="0" bIns="0" rtlCol="0" anchor="ctr"/>
          <a:lstStyle/>
          <a:p>
            <a:pPr indent="0" marL="0">
              <a:buNone/>
            </a:pPr>
            <a:r>
              <a:rPr lang="en-US" sz="900" i="1" dirty="0">
                <a:solidFill>
                  <a:srgbClr val="5B6475"/>
                </a:solidFill>
                <a:latin typeface="Calibri" pitchFamily="34" charset="0"/>
                <a:ea typeface="Calibri" pitchFamily="34" charset="-122"/>
                <a:cs typeface="Calibri" pitchFamily="34" charset="-120"/>
              </a:rPr>
              <a:t>Evidence: claims-ledger D4–D6, R11; docs/evidence/stage6-act5-full.txt. Proven on synthetic data.</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14213D"/>
                </a:solidFill>
                <a:latin typeface="Cambria" pitchFamily="34" charset="0"/>
                <a:ea typeface="Cambria" pitchFamily="34" charset="-122"/>
                <a:cs typeface="Cambria" pitchFamily="34" charset="-120"/>
              </a:rPr>
              <a:t>Limits and roadmap</a:t>
            </a:r>
            <a:endParaRPr lang="en-US" sz="3000" dirty="0"/>
          </a:p>
        </p:txBody>
      </p:sp>
      <p:sp>
        <p:nvSpPr>
          <p:cNvPr id="3" name="Text 1"/>
          <p:cNvSpPr txBox="1"/>
          <p:nvPr/>
        </p:nvSpPr>
        <p:spPr>
          <a:xfrm>
            <a:off x="457200" y="1188720"/>
            <a:ext cx="8229600" cy="3474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4213D"/>
                </a:solidFill>
                <a:latin typeface="Calibri" pitchFamily="34" charset="0"/>
                <a:ea typeface="Calibri" pitchFamily="34" charset="-122"/>
                <a:cs typeface="Calibri" pitchFamily="34" charset="-120"/>
              </a:rPr>
              <a:t>Deterrence plus detection, not cheat-proof; records are tamper-evident.</a:t>
            </a:r>
            <a:endParaRPr lang="en-US" sz="1500" dirty="0"/>
          </a:p>
          <a:p>
            <a:pPr marL="342900" indent="-342900">
              <a:spcAft>
                <a:spcPts val="800"/>
              </a:spcAft>
              <a:buSzPct val="100000"/>
              <a:buChar char="•"/>
            </a:pPr>
            <a:r>
              <a:rPr lang="en-US" sz="1500" dirty="0">
                <a:solidFill>
                  <a:srgbClr val="14213D"/>
                </a:solidFill>
                <a:latin typeface="Calibri" pitchFamily="34" charset="0"/>
                <a:ea typeface="Calibri" pitchFamily="34" charset="-122"/>
                <a:cs typeface="Calibri" pitchFamily="34" charset="-120"/>
              </a:rPr>
              <a:t>Integrity gate detects by process name; the camera face check is run by hand.</a:t>
            </a:r>
            <a:endParaRPr lang="en-US" sz="1500" dirty="0"/>
          </a:p>
          <a:p>
            <a:pPr marL="342900" indent="-342900">
              <a:spcAft>
                <a:spcPts val="800"/>
              </a:spcAft>
              <a:buSzPct val="100000"/>
              <a:buChar char="•"/>
            </a:pPr>
            <a:r>
              <a:rPr lang="en-US" sz="1500" dirty="0">
                <a:solidFill>
                  <a:srgbClr val="14213D"/>
                </a:solidFill>
                <a:latin typeface="Calibri" pitchFamily="34" charset="0"/>
                <a:ea typeface="Calibri" pitchFamily="34" charset="-122"/>
                <a:cs typeface="Calibri" pitchFamily="34" charset="-120"/>
              </a:rPr>
              <a:t>Radar and risk model are proven on synthetic cohorts; field accuracy comes from a pilot.</a:t>
            </a:r>
            <a:endParaRPr lang="en-US" sz="1500" dirty="0"/>
          </a:p>
          <a:p>
            <a:pPr marL="342900" indent="-342900">
              <a:spcAft>
                <a:spcPts val="800"/>
              </a:spcAft>
              <a:buSzPct val="100000"/>
              <a:buChar char="•"/>
            </a:pPr>
            <a:r>
              <a:rPr lang="en-US" sz="1500" dirty="0">
                <a:solidFill>
                  <a:srgbClr val="14213D"/>
                </a:solidFill>
                <a:latin typeface="Calibri" pitchFamily="34" charset="0"/>
                <a:ea typeface="Calibri" pitchFamily="34" charset="-122"/>
                <a:cs typeface="Calibri" pitchFamily="34" charset="-120"/>
              </a:rPr>
              <a:t>Next: field pilot on a real WAN, power-loss and low-end seat tests (20k ran on one Mac, loopback).</a:t>
            </a:r>
            <a:endParaRPr lang="en-US" sz="1500" dirty="0"/>
          </a:p>
          <a:p>
            <a:pPr marL="342900" indent="-342900">
              <a:spcAft>
                <a:spcPts val="800"/>
              </a:spcAft>
              <a:buSzPct val="100000"/>
              <a:buChar char="•"/>
            </a:pPr>
            <a:r>
              <a:rPr lang="en-US" sz="1500" dirty="0">
                <a:solidFill>
                  <a:srgbClr val="14213D"/>
                </a:solidFill>
                <a:latin typeface="Calibri" pitchFamily="34" charset="0"/>
                <a:ea typeface="Calibri" pitchFamily="34" charset="-122"/>
                <a:cs typeface="Calibri" pitchFamily="34" charset="-120"/>
              </a:rPr>
              <a:t>Next: HSM-held sign-off key and real WORM archive (today: DEV key, simulated WORM).</a:t>
            </a:r>
            <a:endParaRPr lang="en-US" sz="1500" dirty="0"/>
          </a:p>
          <a:p>
            <a:pPr marL="342900" indent="-342900">
              <a:spcAft>
                <a:spcPts val="800"/>
              </a:spcAft>
              <a:buSzPct val="100000"/>
              <a:buChar char="•"/>
            </a:pPr>
            <a:r>
              <a:rPr lang="en-US" sz="1500" dirty="0">
                <a:solidFill>
                  <a:srgbClr val="14213D"/>
                </a:solidFill>
                <a:latin typeface="Calibri" pitchFamily="34" charset="0"/>
                <a:ea typeface="Calibri" pitchFamily="34" charset="-122"/>
                <a:cs typeface="Calibri" pitchFamily="34" charset="-120"/>
              </a:rPr>
              <a:t>Next: independent-custody witness and pinned TLS between components.</a:t>
            </a:r>
            <a:endParaRPr lang="en-US" sz="1500" dirty="0"/>
          </a:p>
        </p:txBody>
      </p:sp>
      <p:sp>
        <p:nvSpPr>
          <p:cNvPr id="4" name="Text 2"/>
          <p:cNvSpPr txBox="1"/>
          <p:nvPr/>
        </p:nvSpPr>
        <p:spPr>
          <a:xfrm>
            <a:off x="457200" y="4754880"/>
            <a:ext cx="8229600" cy="256032"/>
          </a:xfrm>
          <a:prstGeom prst="rect">
            <a:avLst/>
          </a:prstGeom>
          <a:noFill/>
          <a:ln/>
        </p:spPr>
        <p:txBody>
          <a:bodyPr wrap="square" lIns="0" tIns="0" rIns="0" bIns="0" rtlCol="0" anchor="ctr"/>
          <a:lstStyle/>
          <a:p>
            <a:pPr indent="0" marL="0">
              <a:buNone/>
            </a:pPr>
            <a:r>
              <a:rPr lang="en-US" sz="900" i="1" dirty="0">
                <a:solidFill>
                  <a:srgbClr val="5B6475"/>
                </a:solidFill>
                <a:latin typeface="Calibri" pitchFamily="34" charset="0"/>
                <a:ea typeface="Calibri" pitchFamily="34" charset="-122"/>
                <a:cs typeface="Calibri" pitchFamily="34" charset="-120"/>
              </a:rPr>
              <a:t>Sources: docs/threat-model.md, docs/claims-ledger.md ("Claims we deliberately don't make").</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14213D"/>
                </a:solidFill>
                <a:latin typeface="Cambria" pitchFamily="34" charset="0"/>
                <a:ea typeface="Cambria" pitchFamily="34" charset="-122"/>
                <a:cs typeface="Cambria" pitchFamily="34" charset="-120"/>
              </a:rPr>
              <a:t>Measured numbers</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3108960"/>
                <a:gridCol w="3383280"/>
                <a:gridCol w="1737360"/>
              </a:tblGrid>
              <a:tr h="411480">
                <a:tc>
                  <a:txBody>
                    <a:bodyPr/>
                    <a:lstStyle/>
                    <a:p>
                      <a:pPr indent="0" marL="0">
                        <a:buNone/>
                      </a:pPr>
                      <a:r>
                        <a:rPr lang="en-US" sz="1100" b="1" dirty="0">
                          <a:solidFill>
                            <a:srgbClr val="5B6475"/>
                          </a:solidFill>
                          <a:latin typeface="Calibri" pitchFamily="34" charset="0"/>
                          <a:ea typeface="Calibri" pitchFamily="34" charset="-122"/>
                          <a:cs typeface="Calibri" pitchFamily="34" charset="-120"/>
                        </a:rPr>
                        <a:t>Measure</a:t>
                      </a:r>
                      <a:endParaRPr lang="en-US" sz="1100" dirty="0">
                        <a:latin typeface="Calibri" charset="0"/>
                        <a:ea typeface="Calibri" charset="0"/>
                        <a:cs typeface="Calibri" charset="0"/>
                      </a:endParaRPr>
                    </a:p>
                  </a:txBody>
                  <a:tcPr marL="91440" marR="91440" marT="45720" marB="45720">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100" b="1" dirty="0">
                          <a:solidFill>
                            <a:srgbClr val="5B6475"/>
                          </a:solidFill>
                          <a:latin typeface="Calibri" pitchFamily="34" charset="0"/>
                          <a:ea typeface="Calibri" pitchFamily="34" charset="-122"/>
                          <a:cs typeface="Calibri" pitchFamily="34" charset="-120"/>
                        </a:rPr>
                        <a:t>Result</a:t>
                      </a:r>
                      <a:endParaRPr lang="en-US" sz="1100" dirty="0">
                        <a:latin typeface="Calibri" charset="0"/>
                        <a:ea typeface="Calibri" charset="0"/>
                        <a:cs typeface="Calibri" charset="0"/>
                      </a:endParaRPr>
                    </a:p>
                  </a:txBody>
                  <a:tcPr marL="91440" marR="91440" marT="45720" marB="45720">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100" b="1" dirty="0">
                          <a:solidFill>
                            <a:srgbClr val="5B6475"/>
                          </a:solidFill>
                          <a:latin typeface="Calibri" pitchFamily="34" charset="0"/>
                          <a:ea typeface="Calibri" pitchFamily="34" charset="-122"/>
                          <a:cs typeface="Calibri" pitchFamily="34" charset="-120"/>
                        </a:rPr>
                        <a:t>File (docs/evidence/)</a:t>
                      </a:r>
                      <a:endParaRPr lang="en-US" sz="1100" dirty="0">
                        <a:latin typeface="Calibri" charset="0"/>
                        <a:ea typeface="Calibri" charset="0"/>
                        <a:cs typeface="Calibri" charset="0"/>
                      </a:endParaRPr>
                    </a:p>
                  </a:txBody>
                  <a:tcPr marL="91440" marR="91440" marT="45720" marB="45720">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r>
              <a:tr h="411480">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Ingest latency, relay to cell</a:t>
                      </a:r>
                      <a:endParaRPr lang="en-US" sz="1100" dirty="0">
                        <a:latin typeface="Calibri" charset="0"/>
                        <a:ea typeface="Calibri" charset="0"/>
                        <a:cs typeface="Calibri" charset="0"/>
                      </a:endParaRPr>
                    </a:p>
                  </a:txBody>
                  <a:tcPr marL="91440" marR="91440" marT="45720" marB="45720">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100" b="1" dirty="0">
                          <a:solidFill>
                            <a:srgbClr val="E07A1F"/>
                          </a:solidFill>
                          <a:latin typeface="Calibri" pitchFamily="34" charset="0"/>
                          <a:ea typeface="Calibri" pitchFamily="34" charset="-122"/>
                          <a:cs typeface="Calibri" pitchFamily="34" charset="-120"/>
                        </a:rPr>
                        <a:t>p50 44 ms · p99 168 ms</a:t>
                      </a:r>
                      <a:endParaRPr lang="en-US" sz="1100" dirty="0">
                        <a:latin typeface="Calibri" charset="0"/>
                        <a:ea typeface="Calibri" charset="0"/>
                        <a:cs typeface="Calibri" charset="0"/>
                      </a:endParaRPr>
                    </a:p>
                  </a:txBody>
                  <a:tcPr marL="91440" marR="91440" marT="45720" marB="45720">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stage7-load.txt</a:t>
                      </a:r>
                      <a:endParaRPr lang="en-US" sz="1100" dirty="0">
                        <a:latin typeface="Calibri" charset="0"/>
                        <a:ea typeface="Calibri" charset="0"/>
                        <a:cs typeface="Calibri" charset="0"/>
                      </a:endParaRPr>
                    </a:p>
                  </a:txBody>
                  <a:tcPr marL="91440" marR="91440" marT="45720" marB="45720">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r>
              <a:tr h="411480">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Stored / rejected (20k cohort)</a:t>
                      </a:r>
                      <a:endParaRPr lang="en-US" sz="1100" dirty="0">
                        <a:latin typeface="Calibri" charset="0"/>
                        <a:ea typeface="Calibri" charset="0"/>
                        <a:cs typeface="Calibri" charset="0"/>
                      </a:endParaRPr>
                    </a:p>
                  </a:txBody>
                  <a:tcPr marL="91440" marR="91440" marT="45720" marB="45720">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100" b="1" dirty="0">
                          <a:solidFill>
                            <a:srgbClr val="E07A1F"/>
                          </a:solidFill>
                          <a:latin typeface="Calibri" pitchFamily="34" charset="0"/>
                          <a:ea typeface="Calibri" pitchFamily="34" charset="-122"/>
                          <a:cs typeface="Calibri" pitchFamily="34" charset="-120"/>
                        </a:rPr>
                        <a:t>227,882 entries · 0 rejected</a:t>
                      </a:r>
                      <a:endParaRPr lang="en-US" sz="1100" dirty="0">
                        <a:latin typeface="Calibri" charset="0"/>
                        <a:ea typeface="Calibri" charset="0"/>
                        <a:cs typeface="Calibri" charset="0"/>
                      </a:endParaRPr>
                    </a:p>
                  </a:txBody>
                  <a:tcPr marL="91440" marR="91440" marT="45720" marB="45720">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stage7-load.txt</a:t>
                      </a:r>
                      <a:endParaRPr lang="en-US" sz="1100" dirty="0">
                        <a:latin typeface="Calibri" charset="0"/>
                        <a:ea typeface="Calibri" charset="0"/>
                        <a:cs typeface="Calibri" charset="0"/>
                      </a:endParaRPr>
                    </a:p>
                  </a:txBody>
                  <a:tcPr marL="91440" marR="91440" marT="45720" marB="45720">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r>
              <a:tr h="411480">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Candidates unlocked</a:t>
                      </a:r>
                      <a:endParaRPr lang="en-US" sz="1100" dirty="0">
                        <a:latin typeface="Calibri" charset="0"/>
                        <a:ea typeface="Calibri" charset="0"/>
                        <a:cs typeface="Calibri" charset="0"/>
                      </a:endParaRPr>
                    </a:p>
                  </a:txBody>
                  <a:tcPr marL="91440" marR="91440" marT="45720" marB="45720">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100" b="1" dirty="0">
                          <a:solidFill>
                            <a:srgbClr val="E07A1F"/>
                          </a:solidFill>
                          <a:latin typeface="Calibri" pitchFamily="34" charset="0"/>
                          <a:ea typeface="Calibri" pitchFamily="34" charset="-122"/>
                          <a:cs typeface="Calibri" pitchFamily="34" charset="-120"/>
                        </a:rPr>
                        <a:t>19,803 / 19,803</a:t>
                      </a:r>
                      <a:endParaRPr lang="en-US" sz="1100" dirty="0">
                        <a:latin typeface="Calibri" charset="0"/>
                        <a:ea typeface="Calibri" charset="0"/>
                        <a:cs typeface="Calibri" charset="0"/>
                      </a:endParaRPr>
                    </a:p>
                  </a:txBody>
                  <a:tcPr marL="91440" marR="91440" marT="45720" marB="45720">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stage7-load.txt</a:t>
                      </a:r>
                      <a:endParaRPr lang="en-US" sz="1100" dirty="0">
                        <a:latin typeface="Calibri" charset="0"/>
                        <a:ea typeface="Calibri" charset="0"/>
                        <a:cs typeface="Calibri" charset="0"/>
                      </a:endParaRPr>
                    </a:p>
                  </a:txBody>
                  <a:tcPr marL="91440" marR="91440" marT="45720" marB="45720">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r>
              <a:tr h="411480">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Relay traffic per candidate-hour</a:t>
                      </a:r>
                      <a:endParaRPr lang="en-US" sz="1100" dirty="0">
                        <a:latin typeface="Calibri" charset="0"/>
                        <a:ea typeface="Calibri" charset="0"/>
                        <a:cs typeface="Calibri" charset="0"/>
                      </a:endParaRPr>
                    </a:p>
                  </a:txBody>
                  <a:tcPr marL="91440" marR="91440" marT="45720" marB="45720">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100" b="1" dirty="0">
                          <a:solidFill>
                            <a:srgbClr val="E07A1F"/>
                          </a:solidFill>
                          <a:latin typeface="Calibri" pitchFamily="34" charset="0"/>
                          <a:ea typeface="Calibri" pitchFamily="34" charset="-122"/>
                          <a:cs typeface="Calibri" pitchFamily="34" charset="-120"/>
                        </a:rPr>
                        <a:t>≈1.06 MB (60 s window extrapolated)</a:t>
                      </a:r>
                      <a:endParaRPr lang="en-US" sz="1100" dirty="0">
                        <a:latin typeface="Calibri" charset="0"/>
                        <a:ea typeface="Calibri" charset="0"/>
                        <a:cs typeface="Calibri" charset="0"/>
                      </a:endParaRPr>
                    </a:p>
                  </a:txBody>
                  <a:tcPr marL="91440" marR="91440" marT="45720" marB="45720">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stage7-load.txt</a:t>
                      </a:r>
                      <a:endParaRPr lang="en-US" sz="1100" dirty="0">
                        <a:latin typeface="Calibri" charset="0"/>
                        <a:ea typeface="Calibri" charset="0"/>
                        <a:cs typeface="Calibri" charset="0"/>
                      </a:endParaRPr>
                    </a:p>
                  </a:txBody>
                  <a:tcPr marL="91440" marR="91440" marT="45720" marB="45720">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r>
              <a:tr h="411480">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Seat CPU / RSS (Node main process)</a:t>
                      </a:r>
                      <a:endParaRPr lang="en-US" sz="1100" dirty="0">
                        <a:latin typeface="Calibri" charset="0"/>
                        <a:ea typeface="Calibri" charset="0"/>
                        <a:cs typeface="Calibri" charset="0"/>
                      </a:endParaRPr>
                    </a:p>
                  </a:txBody>
                  <a:tcPr marL="91440" marR="91440" marT="45720" marB="45720">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100" b="1" dirty="0">
                          <a:solidFill>
                            <a:srgbClr val="E07A1F"/>
                          </a:solidFill>
                          <a:latin typeface="Calibri" pitchFamily="34" charset="0"/>
                          <a:ea typeface="Calibri" pitchFamily="34" charset="-122"/>
                          <a:cs typeface="Calibri" pitchFamily="34" charset="-120"/>
                        </a:rPr>
                        <a:t>2.3% median · 166 MiB</a:t>
                      </a:r>
                      <a:endParaRPr lang="en-US" sz="1100" dirty="0">
                        <a:latin typeface="Calibri" charset="0"/>
                        <a:ea typeface="Calibri" charset="0"/>
                        <a:cs typeface="Calibri" charset="0"/>
                      </a:endParaRPr>
                    </a:p>
                  </a:txBody>
                  <a:tcPr marL="91440" marR="91440" marT="45720" marB="45720">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stage7-load.txt</a:t>
                      </a:r>
                      <a:endParaRPr lang="en-US" sz="1100" dirty="0">
                        <a:latin typeface="Calibri" charset="0"/>
                        <a:ea typeface="Calibri" charset="0"/>
                        <a:cs typeface="Calibri" charset="0"/>
                      </a:endParaRPr>
                    </a:p>
                  </a:txBody>
                  <a:tcPr marL="91440" marR="91440" marT="45720" marB="45720">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r>
              <a:tr h="411480">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Chaos drill, 20 runs</a:t>
                      </a:r>
                      <a:endParaRPr lang="en-US" sz="1100" dirty="0">
                        <a:latin typeface="Calibri" charset="0"/>
                        <a:ea typeface="Calibri" charset="0"/>
                        <a:cs typeface="Calibri" charset="0"/>
                      </a:endParaRPr>
                    </a:p>
                  </a:txBody>
                  <a:tcPr marL="91440" marR="91440" marT="45720" marB="45720">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100" b="1" dirty="0">
                          <a:solidFill>
                            <a:srgbClr val="E07A1F"/>
                          </a:solidFill>
                          <a:latin typeface="Calibri" pitchFamily="34" charset="0"/>
                          <a:ea typeface="Calibri" pitchFamily="34" charset="-122"/>
                          <a:cs typeface="Calibri" pitchFamily="34" charset="-120"/>
                        </a:rPr>
                        <a:t>0 of 16,000 answers lost · RTO medians 0.96–1.23 s</a:t>
                      </a:r>
                      <a:endParaRPr lang="en-US" sz="1100" dirty="0">
                        <a:latin typeface="Calibri" charset="0"/>
                        <a:ea typeface="Calibri" charset="0"/>
                        <a:cs typeface="Calibri" charset="0"/>
                      </a:endParaRPr>
                    </a:p>
                  </a:txBody>
                  <a:tcPr marL="91440" marR="91440" marT="45720" marB="45720">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stage8-chaos.txt</a:t>
                      </a:r>
                      <a:endParaRPr lang="en-US" sz="1100" dirty="0">
                        <a:latin typeface="Calibri" charset="0"/>
                        <a:ea typeface="Calibri" charset="0"/>
                        <a:cs typeface="Calibri" charset="0"/>
                      </a:endParaRPr>
                    </a:p>
                  </a:txBody>
                  <a:tcPr marL="91440" marR="91440" marT="45720" marB="45720">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4754880"/>
            <a:ext cx="8229600" cy="256032"/>
          </a:xfrm>
          <a:prstGeom prst="rect">
            <a:avLst/>
          </a:prstGeom>
          <a:noFill/>
          <a:ln/>
        </p:spPr>
        <p:txBody>
          <a:bodyPr wrap="square" lIns="0" tIns="0" rIns="0" bIns="0" rtlCol="0" anchor="ctr"/>
          <a:lstStyle/>
          <a:p>
            <a:pPr indent="0" marL="0">
              <a:buNone/>
            </a:pPr>
            <a:r>
              <a:rPr lang="en-US" sz="900" i="1" dirty="0">
                <a:solidFill>
                  <a:srgbClr val="5B6475"/>
                </a:solidFill>
                <a:latin typeface="Calibri" pitchFamily="34" charset="0"/>
                <a:ea typeface="Calibri" pitchFamily="34" charset="-122"/>
                <a:cs typeface="Calibri" pitchFamily="34" charset="-120"/>
              </a:rPr>
              <a:t>One Apple M5 Mac, 3 real cells on loopback, 99 simulated centres, synthetic cohort. Seat figures cover the Node main process only; not real WAN.</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A protocol, not a product</a:t>
            </a:r>
            <a:endParaRPr lang="en-US" sz="3000" dirty="0"/>
          </a:p>
        </p:txBody>
      </p:sp>
      <p:sp>
        <p:nvSpPr>
          <p:cNvPr id="3" name="Text 1"/>
          <p:cNvSpPr txBox="1"/>
          <p:nvPr/>
        </p:nvSpPr>
        <p:spPr>
          <a:xfrm>
            <a:off x="457200" y="1188720"/>
            <a:ext cx="8229600" cy="3383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Vendor conformance kit in NTA's RFP: any vendor's seat, relay or cell must pass the same chaos and tamper tests.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RACI: NTA owns policy, keys and decisions; NIC runs control and cells; vendors run centres; witnesses sit outside the operational path.</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Tested on macOS and Windows.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Apache-2.0 under the GoI open-source policy.</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Rollout: shadow mode on a small NTA exam → relays and cells → mandate.</a:t>
            </a:r>
            <a:endParaRPr lang="en-US" sz="1400" dirty="0"/>
          </a:p>
        </p:txBody>
      </p:sp>
      <p:sp>
        <p:nvSpPr>
          <p:cNvPr id="4" name="Text 2"/>
          <p:cNvSpPr txBox="1"/>
          <p:nvPr/>
        </p:nvSpPr>
        <p:spPr>
          <a:xfrm>
            <a:off x="457200" y="4754880"/>
            <a:ext cx="8229600" cy="256032"/>
          </a:xfrm>
          <a:prstGeom prst="rect">
            <a:avLst/>
          </a:prstGeom>
          <a:noFill/>
          <a:ln/>
        </p:spPr>
        <p:txBody>
          <a:bodyPr wrap="square" lIns="0" tIns="0" rIns="0" bIns="0" rtlCol="0" anchor="ctr"/>
          <a:lstStyle/>
          <a:p>
            <a:pPr indent="0" marL="0">
              <a:buNone/>
            </a:pPr>
            <a:r>
              <a:rPr lang="en-US" sz="900" i="1" dirty="0">
                <a:solidFill>
                  <a:srgbClr val="9AA6BD"/>
                </a:solidFill>
                <a:latin typeface="Calibri" pitchFamily="34" charset="0"/>
                <a:ea typeface="Calibri" pitchFamily="34" charset="-122"/>
                <a:cs typeface="Calibri" pitchFamily="34" charset="-120"/>
              </a:rPr>
              <a:t>Source: docs/plan.md §6 Close and §7 item 12. Cost per candidate is not shown: we quote only what we have measured.</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000" b="1" dirty="0">
                <a:solidFill>
                  <a:srgbClr val="14213D"/>
                </a:solidFill>
                <a:latin typeface="Cambria" pitchFamily="34" charset="0"/>
                <a:ea typeface="Cambria" pitchFamily="34" charset="-122"/>
                <a:cs typeface="Cambria" pitchFamily="34" charset="-120"/>
              </a:rPr>
              <a:t>All 12 focus areas, traced to code and tests</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3017520"/>
                <a:gridCol w="1097280"/>
                <a:gridCol w="3017520"/>
                <a:gridCol w="1097280"/>
              </a:tblGrid>
              <a:tr h="438912">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1 Real-time monitoring</a:t>
                      </a:r>
                      <a:endParaRPr lang="en-US" sz="1100" dirty="0">
                        <a:latin typeface="Calibri" charset="0"/>
                        <a:ea typeface="Calibri" charset="0"/>
                        <a:cs typeface="Calibri" charset="0"/>
                      </a:endParaRPr>
                    </a:p>
                  </a:txBody>
                  <a:tcPr marL="91440" marR="91440" marT="45720" marB="45720">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100" b="1" dirty="0">
                          <a:solidFill>
                            <a:srgbClr val="E07A1F"/>
                          </a:solidFill>
                          <a:latin typeface="Calibri" pitchFamily="34" charset="0"/>
                          <a:ea typeface="Calibri" pitchFamily="34" charset="-122"/>
                          <a:cs typeface="Calibri" pitchFamily="34" charset="-120"/>
                        </a:rPr>
                        <a:t>Partly</a:t>
                      </a:r>
                      <a:endParaRPr lang="en-US" sz="1100" dirty="0">
                        <a:latin typeface="Calibri" charset="0"/>
                        <a:ea typeface="Calibri" charset="0"/>
                        <a:cs typeface="Calibri" charset="0"/>
                      </a:endParaRPr>
                    </a:p>
                  </a:txBody>
                  <a:tcPr marL="91440" marR="91440" marT="45720" marB="45720">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7 Reconciliation</a:t>
                      </a:r>
                      <a:endParaRPr lang="en-US" sz="1100" dirty="0">
                        <a:latin typeface="Calibri" charset="0"/>
                        <a:ea typeface="Calibri" charset="0"/>
                        <a:cs typeface="Calibri" charset="0"/>
                      </a:endParaRPr>
                    </a:p>
                  </a:txBody>
                  <a:tcPr marL="91440" marR="91440" marT="45720" marB="45720">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100" b="1" dirty="0">
                          <a:solidFill>
                            <a:srgbClr val="1F8A5B"/>
                          </a:solidFill>
                          <a:latin typeface="Calibri" pitchFamily="34" charset="0"/>
                          <a:ea typeface="Calibri" pitchFamily="34" charset="-122"/>
                          <a:cs typeface="Calibri" pitchFamily="34" charset="-120"/>
                        </a:rPr>
                        <a:t>Built</a:t>
                      </a:r>
                      <a:endParaRPr lang="en-US" sz="1100" dirty="0">
                        <a:latin typeface="Calibri" charset="0"/>
                        <a:ea typeface="Calibri" charset="0"/>
                        <a:cs typeface="Calibri" charset="0"/>
                      </a:endParaRPr>
                    </a:p>
                  </a:txBody>
                  <a:tcPr marL="91440" marR="91440" marT="45720" marB="45720">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r>
              <a:tr h="438912">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2 Early failure prediction</a:t>
                      </a:r>
                      <a:endParaRPr lang="en-US" sz="1100" dirty="0">
                        <a:latin typeface="Calibri" charset="0"/>
                        <a:ea typeface="Calibri" charset="0"/>
                        <a:cs typeface="Calibri" charset="0"/>
                      </a:endParaRPr>
                    </a:p>
                  </a:txBody>
                  <a:tcPr marL="91440" marR="91440" marT="45720" marB="45720">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100" b="1" dirty="0">
                          <a:solidFill>
                            <a:srgbClr val="E07A1F"/>
                          </a:solidFill>
                          <a:latin typeface="Calibri" pitchFamily="34" charset="0"/>
                          <a:ea typeface="Calibri" pitchFamily="34" charset="-122"/>
                          <a:cs typeface="Calibri" pitchFamily="34" charset="-120"/>
                        </a:rPr>
                        <a:t>Partly</a:t>
                      </a:r>
                      <a:endParaRPr lang="en-US" sz="1100" dirty="0">
                        <a:latin typeface="Calibri" charset="0"/>
                        <a:ea typeface="Calibri" charset="0"/>
                        <a:cs typeface="Calibri" charset="0"/>
                      </a:endParaRPr>
                    </a:p>
                  </a:txBody>
                  <a:tcPr marL="91440" marR="91440" marT="45720" marB="45720">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8 Candidate communication</a:t>
                      </a:r>
                      <a:endParaRPr lang="en-US" sz="1100" dirty="0">
                        <a:latin typeface="Calibri" charset="0"/>
                        <a:ea typeface="Calibri" charset="0"/>
                        <a:cs typeface="Calibri" charset="0"/>
                      </a:endParaRPr>
                    </a:p>
                  </a:txBody>
                  <a:tcPr marL="91440" marR="91440" marT="45720" marB="45720">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100" b="1" dirty="0">
                          <a:solidFill>
                            <a:srgbClr val="1F8A5B"/>
                          </a:solidFill>
                          <a:latin typeface="Calibri" pitchFamily="34" charset="0"/>
                          <a:ea typeface="Calibri" pitchFamily="34" charset="-122"/>
                          <a:cs typeface="Calibri" pitchFamily="34" charset="-120"/>
                        </a:rPr>
                        <a:t>Built</a:t>
                      </a:r>
                      <a:endParaRPr lang="en-US" sz="1100" dirty="0">
                        <a:latin typeface="Calibri" charset="0"/>
                        <a:ea typeface="Calibri" charset="0"/>
                        <a:cs typeface="Calibri" charset="0"/>
                      </a:endParaRPr>
                    </a:p>
                  </a:txBody>
                  <a:tcPr marL="91440" marR="91440" marT="45720" marB="45720">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r>
              <a:tr h="438912">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3 Incident detection &amp; escalation</a:t>
                      </a:r>
                      <a:endParaRPr lang="en-US" sz="1100" dirty="0">
                        <a:latin typeface="Calibri" charset="0"/>
                        <a:ea typeface="Calibri" charset="0"/>
                        <a:cs typeface="Calibri" charset="0"/>
                      </a:endParaRPr>
                    </a:p>
                  </a:txBody>
                  <a:tcPr marL="91440" marR="91440" marT="45720" marB="45720">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100" b="1" dirty="0">
                          <a:solidFill>
                            <a:srgbClr val="1F8A5B"/>
                          </a:solidFill>
                          <a:latin typeface="Calibri" pitchFamily="34" charset="0"/>
                          <a:ea typeface="Calibri" pitchFamily="34" charset="-122"/>
                          <a:cs typeface="Calibri" pitchFamily="34" charset="-120"/>
                        </a:rPr>
                        <a:t>Built</a:t>
                      </a:r>
                      <a:endParaRPr lang="en-US" sz="1100" dirty="0">
                        <a:latin typeface="Calibri" charset="0"/>
                        <a:ea typeface="Calibri" charset="0"/>
                        <a:cs typeface="Calibri" charset="0"/>
                      </a:endParaRPr>
                    </a:p>
                  </a:txBody>
                  <a:tcPr marL="91440" marR="91440" marT="45720" marB="45720">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9 Re-conduct decision</a:t>
                      </a:r>
                      <a:endParaRPr lang="en-US" sz="1100" dirty="0">
                        <a:latin typeface="Calibri" charset="0"/>
                        <a:ea typeface="Calibri" charset="0"/>
                        <a:cs typeface="Calibri" charset="0"/>
                      </a:endParaRPr>
                    </a:p>
                  </a:txBody>
                  <a:tcPr marL="91440" marR="91440" marT="45720" marB="45720">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100" b="1" dirty="0">
                          <a:solidFill>
                            <a:srgbClr val="1F8A5B"/>
                          </a:solidFill>
                          <a:latin typeface="Calibri" pitchFamily="34" charset="0"/>
                          <a:ea typeface="Calibri" pitchFamily="34" charset="-122"/>
                          <a:cs typeface="Calibri" pitchFamily="34" charset="-120"/>
                        </a:rPr>
                        <a:t>Built</a:t>
                      </a:r>
                      <a:endParaRPr lang="en-US" sz="1100" dirty="0">
                        <a:latin typeface="Calibri" charset="0"/>
                        <a:ea typeface="Calibri" charset="0"/>
                        <a:cs typeface="Calibri" charset="0"/>
                      </a:endParaRPr>
                    </a:p>
                  </a:txBody>
                  <a:tcPr marL="91440" marR="91440" marT="45720" marB="45720">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r>
              <a:tr h="438912">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4 Backup and DR</a:t>
                      </a:r>
                      <a:endParaRPr lang="en-US" sz="1100" dirty="0">
                        <a:latin typeface="Calibri" charset="0"/>
                        <a:ea typeface="Calibri" charset="0"/>
                        <a:cs typeface="Calibri" charset="0"/>
                      </a:endParaRPr>
                    </a:p>
                  </a:txBody>
                  <a:tcPr marL="91440" marR="91440" marT="45720" marB="45720">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100" b="1" dirty="0">
                          <a:solidFill>
                            <a:srgbClr val="E07A1F"/>
                          </a:solidFill>
                          <a:latin typeface="Calibri" pitchFamily="34" charset="0"/>
                          <a:ea typeface="Calibri" pitchFamily="34" charset="-122"/>
                          <a:cs typeface="Calibri" pitchFamily="34" charset="-120"/>
                        </a:rPr>
                        <a:t>Partly</a:t>
                      </a:r>
                      <a:endParaRPr lang="en-US" sz="1100" dirty="0">
                        <a:latin typeface="Calibri" charset="0"/>
                        <a:ea typeface="Calibri" charset="0"/>
                        <a:cs typeface="Calibri" charset="0"/>
                      </a:endParaRPr>
                    </a:p>
                  </a:txBody>
                  <a:tcPr marL="91440" marR="91440" marT="45720" marB="45720">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10 Fairness when disrupted</a:t>
                      </a:r>
                      <a:endParaRPr lang="en-US" sz="1100" dirty="0">
                        <a:latin typeface="Calibri" charset="0"/>
                        <a:ea typeface="Calibri" charset="0"/>
                        <a:cs typeface="Calibri" charset="0"/>
                      </a:endParaRPr>
                    </a:p>
                  </a:txBody>
                  <a:tcPr marL="91440" marR="91440" marT="45720" marB="45720">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100" b="1" dirty="0">
                          <a:solidFill>
                            <a:srgbClr val="E07A1F"/>
                          </a:solidFill>
                          <a:latin typeface="Calibri" pitchFamily="34" charset="0"/>
                          <a:ea typeface="Calibri" pitchFamily="34" charset="-122"/>
                          <a:cs typeface="Calibri" pitchFamily="34" charset="-120"/>
                        </a:rPr>
                        <a:t>Partly</a:t>
                      </a:r>
                      <a:endParaRPr lang="en-US" sz="1100" dirty="0">
                        <a:latin typeface="Calibri" charset="0"/>
                        <a:ea typeface="Calibri" charset="0"/>
                        <a:cs typeface="Calibri" charset="0"/>
                      </a:endParaRPr>
                    </a:p>
                  </a:txBody>
                  <a:tcPr marL="91440" marR="91440" marT="45720" marB="45720">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r>
              <a:tr h="438912">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5 Tamper-evident storage</a:t>
                      </a:r>
                      <a:endParaRPr lang="en-US" sz="1100" dirty="0">
                        <a:latin typeface="Calibri" charset="0"/>
                        <a:ea typeface="Calibri" charset="0"/>
                        <a:cs typeface="Calibri" charset="0"/>
                      </a:endParaRPr>
                    </a:p>
                  </a:txBody>
                  <a:tcPr marL="91440" marR="91440" marT="45720" marB="45720">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100" b="1" dirty="0">
                          <a:solidFill>
                            <a:srgbClr val="1F8A5B"/>
                          </a:solidFill>
                          <a:latin typeface="Calibri" pitchFamily="34" charset="0"/>
                          <a:ea typeface="Calibri" pitchFamily="34" charset="-122"/>
                          <a:cs typeface="Calibri" pitchFamily="34" charset="-120"/>
                        </a:rPr>
                        <a:t>Built*</a:t>
                      </a:r>
                      <a:endParaRPr lang="en-US" sz="1100" dirty="0">
                        <a:latin typeface="Calibri" charset="0"/>
                        <a:ea typeface="Calibri" charset="0"/>
                        <a:cs typeface="Calibri" charset="0"/>
                      </a:endParaRPr>
                    </a:p>
                  </a:txBody>
                  <a:tcPr marL="91440" marR="91440" marT="45720" marB="45720">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11 Audit trail &amp; evidence</a:t>
                      </a:r>
                      <a:endParaRPr lang="en-US" sz="1100" dirty="0">
                        <a:latin typeface="Calibri" charset="0"/>
                        <a:ea typeface="Calibri" charset="0"/>
                        <a:cs typeface="Calibri" charset="0"/>
                      </a:endParaRPr>
                    </a:p>
                  </a:txBody>
                  <a:tcPr marL="91440" marR="91440" marT="45720" marB="45720">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100" b="1" dirty="0">
                          <a:solidFill>
                            <a:srgbClr val="1F8A5B"/>
                          </a:solidFill>
                          <a:latin typeface="Calibri" pitchFamily="34" charset="0"/>
                          <a:ea typeface="Calibri" pitchFamily="34" charset="-122"/>
                          <a:cs typeface="Calibri" pitchFamily="34" charset="-120"/>
                        </a:rPr>
                        <a:t>Built*</a:t>
                      </a:r>
                      <a:endParaRPr lang="en-US" sz="1100" dirty="0">
                        <a:latin typeface="Calibri" charset="0"/>
                        <a:ea typeface="Calibri" charset="0"/>
                        <a:cs typeface="Calibri" charset="0"/>
                      </a:endParaRPr>
                    </a:p>
                  </a:txBody>
                  <a:tcPr marL="91440" marR="91440" marT="45720" marB="45720">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r>
              <a:tr h="438912">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6 Suspicious patterns</a:t>
                      </a:r>
                      <a:endParaRPr lang="en-US" sz="1100" dirty="0">
                        <a:latin typeface="Calibri" charset="0"/>
                        <a:ea typeface="Calibri" charset="0"/>
                        <a:cs typeface="Calibri" charset="0"/>
                      </a:endParaRPr>
                    </a:p>
                  </a:txBody>
                  <a:tcPr marL="91440" marR="91440" marT="45720" marB="45720">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100" b="1" dirty="0">
                          <a:solidFill>
                            <a:srgbClr val="E07A1F"/>
                          </a:solidFill>
                          <a:latin typeface="Calibri" pitchFamily="34" charset="0"/>
                          <a:ea typeface="Calibri" pitchFamily="34" charset="-122"/>
                          <a:cs typeface="Calibri" pitchFamily="34" charset="-120"/>
                        </a:rPr>
                        <a:t>Partly</a:t>
                      </a:r>
                      <a:endParaRPr lang="en-US" sz="1100" dirty="0">
                        <a:latin typeface="Calibri" charset="0"/>
                        <a:ea typeface="Calibri" charset="0"/>
                        <a:cs typeface="Calibri" charset="0"/>
                      </a:endParaRPr>
                    </a:p>
                  </a:txBody>
                  <a:tcPr marL="91440" marR="91440" marT="45720" marB="45720">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12 AI systemic-risk analytics</a:t>
                      </a:r>
                      <a:endParaRPr lang="en-US" sz="1100" dirty="0">
                        <a:latin typeface="Calibri" charset="0"/>
                        <a:ea typeface="Calibri" charset="0"/>
                        <a:cs typeface="Calibri" charset="0"/>
                      </a:endParaRPr>
                    </a:p>
                  </a:txBody>
                  <a:tcPr marL="91440" marR="91440" marT="45720" marB="45720">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100" b="1" dirty="0">
                          <a:solidFill>
                            <a:srgbClr val="1F8A5B"/>
                          </a:solidFill>
                          <a:latin typeface="Calibri" pitchFamily="34" charset="0"/>
                          <a:ea typeface="Calibri" pitchFamily="34" charset="-122"/>
                          <a:cs typeface="Calibri" pitchFamily="34" charset="-120"/>
                        </a:rPr>
                        <a:t>Built</a:t>
                      </a:r>
                      <a:endParaRPr lang="en-US" sz="1100" dirty="0">
                        <a:latin typeface="Calibri" charset="0"/>
                        <a:ea typeface="Calibri" charset="0"/>
                        <a:cs typeface="Calibri" charset="0"/>
                      </a:endParaRPr>
                    </a:p>
                  </a:txBody>
                  <a:tcPr marL="91440" marR="91440" marT="45720" marB="45720">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4754880"/>
            <a:ext cx="8229600" cy="256032"/>
          </a:xfrm>
          <a:prstGeom prst="rect">
            <a:avLst/>
          </a:prstGeom>
          <a:noFill/>
          <a:ln/>
        </p:spPr>
        <p:txBody>
          <a:bodyPr wrap="square" lIns="0" tIns="0" rIns="0" bIns="0" rtlCol="0" anchor="ctr"/>
          <a:lstStyle/>
          <a:p>
            <a:pPr indent="0" marL="0">
              <a:buNone/>
            </a:pPr>
            <a:r>
              <a:rPr lang="en-US" sz="900" i="1" dirty="0">
                <a:solidFill>
                  <a:srgbClr val="5B6475"/>
                </a:solidFill>
                <a:latin typeface="Calibri" pitchFamily="34" charset="0"/>
                <a:ea typeface="Calibri" pitchFamily="34" charset="-122"/>
                <a:cs typeface="Calibri" pitchFamily="34" charset="-120"/>
              </a:rPr>
              <a:t>Source: docs/traceability.md summary table. * witness built; the demo runs it beside control. "Partly" rows list their remaining work there.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2026-09-30T18:20:10Z</dcterms:created>
  <dcterms:modified xsi:type="dcterms:W3CDTF">2026-09-30T18:20:10Z</dcterms:modified>
</cp:coreProperties>
</file>